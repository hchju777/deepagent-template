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ccd94ea9-3356-f0a4-21bc-166f2adb7e47}">
          <p14:sldIdLst>
            <p14:sldId id="256"/>
            <p14:sldId id="257"/>
          </p14:sldIdLst>
        </p14:section>
        <p14:section name="문제와 변화" id="{c6d0e232-a8bc-daa8-2342-c12380210337}">
          <p14:sldIdLst>
            <p14:sldId id="258"/>
            <p14:sldId id="259"/>
          </p14:sldIdLst>
        </p14:section>
        <p14:section name="어떻게 동작하나" id="{3d989140-c9c9-ff4d-79f6-9ebef7393ab1}">
          <p14:sldIdLst>
            <p14:sldId id="260"/>
            <p14:sldId id="261"/>
            <p14:sldId id="262"/>
            <p14:sldId id="263"/>
            <p14:sldId id="264"/>
          </p14:sldIdLst>
        </p14:section>
        <p14:section name="규모와 계획" id="{0a63fbe4-171c-4158-8321-62156916ba63}">
          <p14:sldIdLst>
            <p14:sldId id="265"/>
            <p14:sldId id="266"/>
          </p14:sldIdLst>
        </p14:section>
        <p14:section name="다음 비전" id="{551578bd-cc2e-952e-9f0c-208afa94dce7}">
          <p14:sldIdLst>
            <p14:sldId id="267"/>
            <p14:sldId id="268"/>
          </p14:sldIdLst>
        </p14:section>
        <p14:section name="마무리" id="{d3e98795-ce0e-419b-88e8-fe86a5211ba7}">
          <p14:sldIdLst>
            <p14:sldId id="269"/>
          </p14:sldIdLst>
        </p14:section>
        <p14:section name="부록" id="{197ed13e-b5cb-0fa8-6ba9-b9aa0d4414a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이전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어제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</c:v>
                </c:pt>
                <c:pt idx="1">
                  <c:v>61</c:v>
                </c:pt>
                <c:pt idx="2">
                  <c:v>48</c:v>
                </c:pt>
                <c:pt idx="3">
                  <c:v>57</c:v>
                </c:pt>
                <c:pt idx="4">
                  <c:v>63</c:v>
                </c:pt>
                <c:pt idx="5">
                  <c:v>55</c:v>
                </c:pt>
                <c:pt idx="6">
                  <c:v>50</c:v>
                </c:pt>
                <c:pt idx="7">
                  <c:v>58</c:v>
                </c:pt>
                <c:pt idx="8">
                  <c:v>66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어제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어제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디지털 트윈 운영 시스템을 지켜보는 AI 에이전트를 보고드립니다.
한 문장으로: 이상을 스스로 찾고, 원인을 조사해, 근거와 함께 보고합니다.
대상 시스템에는 읽기만 하고, 조치는 사람이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가지만 기억해 주시면 됩니다.
첫째, 무엇을 하나 — 스스로 순찰하고, 이상이 있으면 원인을 조사해 보고서를 보냅니다.
둘째, 왜 믿을 수 있나 — 결론마다 증거 번호가 붙고, 그 번호가 실제 기록인지 규칙이 대조합니다.
셋째, 무엇이 달라지나 — 사람은 찾는 일에서 벗어나 판단과 조치에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끝, 운영 화면에서 증상이 보입니다. 예를 들어 생산 중인 라인의 알람 현황이 0/0/0입니다.
그런데 원인은 그 앞 다섯 단계 중 어디에나 있을 수 있습니다 — 수집, 메시지, 계산, 저장, 조회.
그래서 화면에서 거슬러 올라가며 단계마다 확인해야 하고, 그 일이 어려운 이유가 아래 세 가지입니다.
(숫자 출처: 코드 모듈 980개는 사내 code check, API 끝점 156개는 사내 code graph 결과)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지금은 다섯 단계 전부 사람이 합니다. 누군가 알아채야 시작되고, 시스템마다 들어가 보고, 코드를 열어 따라가고, 원인을 추정해 정리하고, 조치합니다.
늦게 알아챌수록 손해입니다 — 파이프라인이 끊긴 동안의 데이터는 나중에 쓸 수 없습니다.
완성 후에는 사람 손이 가는 단계가 하나입니다. 발견·조사·근거 검증은 시스템이 하고, 담당자는 판단하고 조치합니다.
(단계 수로 비교했습니다. 사건당 실제 소요 시간을 재면 각 줄 끝에 덧붙이는 것이 가장 강합니다.)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— 문제가 들어오는 입구가 둘입니다. 담당자가 증상을 말로 문의하거나, 시스템이 28개 사이트를 순찰하다 이상을 발견합니다. 어느 쪽이든 같은 사건 파일로 모입니다.
가운데 — 조사 엔진. AI 조사 책임자가 가설을 세우고 세 가지 도구로 증거를 모으는 일을 반복합니다. 점선 테두리는 규칙이 정한 울타리입니다.
결론은 근거 검증을 거칩니다. 근거가 부족하면 다시 쓰게 합니다.
오른쪽 — 보고서는 담당자에게, 조치는 사람이. 필요하면 조사 중에 사람에게 묻습니다.
아래 — 대상 시스템과의 연결은 전부 읽기 전용입니다. 별도로 매일 아침 알람 리포트가 나갑니다.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조사는 한 바퀴씩 돕니다. AI가 가설을 세우고, 다음에 볼 것을 고르고, 고른 조회를 코드가 실행하고, 결과가 증거 번호를 달고 기록되면, AI가 그걸 읽고 가설을 고칩니다.
바퀴 바깥 점선이 규칙 울타리입니다 — 최대 6라운드, 한 번에 3개, 허용된 조회만, 쓰기 불가. AI는 이 한계를 바꿀 수 없습니다.
끝맺음도 규칙이 지킵니다. 근거가 모자라면 억지로 결론을 만들지 않고 '미확정'으로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탐지·개설 — 순찰이 "생산 중인데 알람 현황 0/0/0"을 찾고, 그때 받은 응답을 첫 증거(E1)로 보존하고 사건을 엽니다.
2 가설 — AI가 원인 후보 셋을 세웁니다.
3 1차 조사 — 코드 추적으로 화면 값이 저장소의 최근 기록 건수라는 것을 확인하고(E2), 다시 세어도 0이라 화면 계산은 정확합니다(E3). 화면 가설을 버립니다.
4 2차 조사·결론 — 대기열에 메시지가 쌓이고(E4), 그걸 저장하는 곳은 저장 서비스뿐(E5). 결론: 저장 서비스의 메시지 소비 정지.
5 근거 검증 — 인용한 증거가 실제 기록인지 규칙이 대조합니다.
6 보고·조치 — 담당자는 그때까지 아무것도 하지 않았습니다.
(증상은 순찰이 실제로 점검하는 유형이고, 원인 경로는 로컬 측정판에서 조사시켜 본 고장과 같은 모양입니다. 이름은 일반화했습니다.)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AI가 쓴 보고서 문장입니다. 문장마다 증거 번호가 붙습니다.
오른쪽은 조사 중에 코드가 남긴 실제 기록입니다. 언제, 무엇을 물었고, 무엇을 받았는지가 있습니다.
가운데에서 규칙이 둘을 대조합니다. 마지막 줄처럼 없는 번호(E9)를 대면 그 문장은 결론에 못 들어갑니다.
'없다'도 검사합니다 — 끝까지 다 본 조회에서 나온 '0건'만 근거로 인정합니다.
못 본 것은 못 봤다고 적습니다. 확인 못 한 것을 정상으로 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 보고서 — 사건마다 메일로 옵니다. 맨 위에 판정과 신뢰도, 조사 단계가 어디까지 갔는지, 판단마다 붙은 증거 번호, 조치 권고, 그리고 '확인하지 못한 것'이 따로 있습니다. 마지막 칸이 이 보고서를 믿게 하는 칸입니다.
일일 알람 리포트 — 매일 아침 28개 사이트를 집계해 옵니다. 숫자·표·추이는 코드가 세고, 위의 문장만 AI가 씁니다. 아래 조회 범위가 실제로 몇 곳을 읽었는지 말합니다.
데이터 흐름 지도 — 값 하나를 고르면 그 값을 만드는 서비스·메시지·저장소 경로가 켜집니다. 설치 없이 파일 하나로 열립니다.
(세 화면 모두 예시이고 숫자·이름은 지어낸 것입니다. 일일 리포트는 사내에서 이미 매일 나가므로, 실제 메일 캡처로 바꾸면 가장 설득력이 있습니다.)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28개 사이트를 사람이 매번 다 들여다볼 수는 없습니다.
일일 알람 리포트는 이미 매일 28개 사이트 전체를 집계해 나가고 있고, 자동 순찰은 첫 가동일에 실제 문제 2건을 잡았습니다.
조사는 대상 코드를 직접 읽습니다 — 코드 모듈 980개, API 끝점 156개 규모입니다.
대상 시스템에 쓰는 기능은 0입니다. 읽기 전용이 정책이 아니라 구조입니다.
(출처: ops-agent STEPS/handover.md, step-11c, step-11d. 적중률 같은 숫자는 15단계 측정 뒤에 더합니다.)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 모습은 여섯 덩어리입니다. 일일 알람 리포트 → 자동 탐지 → AI 조사 → 판정·보고 → 사람과 문답 → 상주 운영과 정확도 측정.
마지막 칸이 중요합니다 — 완성은 "돌아간다"가 아니라 "얼마나 맞히는지 숫자가 있다"에서 끝납니다.
다음 비전은 셋입니다. 웹 질의 창구, 학습 루프, 조사 범위 확장(로그·지표 읽기, 공통 장애 묶기).
어느 단계에서도 바뀌지 않는 것: 읽기 전용, 조치는 사람, 근거 없는 결론은 없음.
(덩어리 ↔ 단계: 리포트 8·9a–9g / 탐지 4·5·6a·6b / 조사 10a·10b·11a–11d / 판정·보고 12a·12b / 문답 13 / 운영·측정 14·15)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질문을 말로 합니다. "우리 사업부에 데이터는 있는데 왜 운영 시스템에는 안 나오지?" — 사업부·사업장은 질문에서 찾고, 모자란 것은 AI가 되묻습니다.
진행을 지켜봅니다. 창을 닫았다 다시 열어도 이어서 보입니다.
원인 후보를 여러 개, 신뢰도와 근거 번호와 함께 받습니다.
조치한 뒤 실제 원인을 한 번 눌러 기록합니다. 이 기록이 다음 장의 학습 루프 재료입니다.
(화면은 조사를 직접 하지 않습니다 — 접수하고 결과를 보여 줄 뿐이라, 화면을 닫아도 조사가 사라지지 않습니다. 화면 구성은 예시입니다.)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순환 — 맞혔는지를 잽니다. AI가 원인 후보와 신뢰도를 내고, 조치한 담당자가 실제 원인을 한 번 기록합니다. 쌓이면 "AI가 ‘높음’이라 한 것이 실제로 얼마나 맞았나"를 잴 수 있습니다. 지난 사건은 다음 비슷한 사건의 출발점이 됩니다.
오른쪽 순환 — AI가 찾은 새 이상 유형을 담당자가 규칙 점검으로 등록하면, 다음부터는 규칙이 더 자주, AI 없이 잡습니다. AI는 새로운 유형에 집중합니다.
지키는 선 셋 — 표본이 적을 때 퍼센트를 내지 않고, 과거는 출발점일 뿐이며, 설정을 바꾸는 것은 사람입니다.
("쓸수록 정확해진다"가 아니라 "쓸수록 얼마나 맞히는지 보인다"로 썼습니다. 앞의 것은 측정 전에 약속할 수 없습니다.)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완성과 운영을 위해 결정이 필요한 네 가지입니다(초안 — 상황에 맞게 고쳐 쓰십시오).
운영 환경: 상주 프로세스를 돌릴 곳과, 죽었을 때 살리는 감시는 시스템 바깥의 몫입니다(ops-agent backlog ③).
사내 반입: LangGraph(사내 PyPI 확인), graphify(반입 심사) — backlog ⑥⑦.
실제 원인 기록: 학습 루프와 정확도 측정의 전제입니다.
다음 비전 순서: 웹 창구, 학습 루프, 조사 범위 확장 중 무엇부터.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질의응답에서 "실제로 어떻게 짜여 있나"가 나왔을 때 펼치는 장입니다.
파랑은 LLM이 판단하는 자리(frame·integrate·conclude, 리드 LLM, 리포트의 LLM 서술), 회색은 코드가 쥐는 자리입니다.
action 등재표가 리드가 고를 수 있는 읽기의 전부이고, 맨 아래 어댑터 층이 대상 시스템에 닿는 유일한 길입니다.
(현재 위치: conclude·verify는 12a, 보고서는 12b, 사람 문답은 13, 순찰·조사 데몬은 6b·14에서 들어옵니다. 진행 표는 ops-agent/README.md.)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BD5E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F172A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64748B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6519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운영 모니터링 에이전트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4" Type="http://schemas.openxmlformats.org/officeDocument/2006/relationships/image" Target="../media/image-9-13.png"/><Relationship Id="rId15" Type="http://schemas.openxmlformats.org/officeDocument/2006/relationships/image" Target="../media/image-9-14.png"/><Relationship Id="rId16" Type="http://schemas.openxmlformats.org/officeDocument/2006/relationships/image" Target="../media/image-9-15.png"/><Relationship Id="rId17" Type="http://schemas.openxmlformats.org/officeDocument/2006/relationships/image" Target="../media/image-9-16.png"/><Relationship Id="rId18" Type="http://schemas.openxmlformats.org/officeDocument/2006/relationships/image" Target="../media/image-9-17.png"/><Relationship Id="rId19" Type="http://schemas.openxmlformats.org/officeDocument/2006/relationships/image" Target="../media/image-9-18.png"/><Relationship Id="rId20" Type="http://schemas.openxmlformats.org/officeDocument/2006/relationships/image" Target="../media/image-9-19.png"/><Relationship Id="rId21" Type="http://schemas.openxmlformats.org/officeDocument/2006/relationships/image" Target="../media/image-9-20.png"/><Relationship Id="rId22" Type="http://schemas.openxmlformats.org/officeDocument/2006/relationships/image" Target="../media/image-9-21.png"/><Relationship Id="rId23" Type="http://schemas.openxmlformats.org/officeDocument/2006/relationships/image" Target="../media/image-9-22.png"/><Relationship Id="rId24" Type="http://schemas.openxmlformats.org/officeDocument/2006/relationships/slideLayout" Target="../slideLayouts/slideLayout3.xml"/><Relationship Id="rId2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slideLayout" Target="../slideLayouts/slideLayout3.xml"/><Relationship Id="rId2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운영 모니터링 에이전트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이상을 스스로 찾고, 원인을 조사해, 근거와 함께 보고한다</a:t>
            </a:r>
            <a:endParaRPr lang="en-US" sz="2000" dirty="0"/>
          </a:p>
        </p:txBody>
      </p:sp>
      <p:sp>
        <p:nvSpPr>
          <p:cNvPr id="4" name="태그 28개 사이트"/>
          <p:cNvSpPr/>
          <p:nvPr/>
        </p:nvSpPr>
        <p:spPr>
          <a:xfrm>
            <a:off x="731520" y="4160520"/>
            <a:ext cx="1449324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28개 사이트</a:t>
            </a:r>
            <a:endParaRPr lang="en-US" sz="1400" dirty="0"/>
          </a:p>
        </p:txBody>
      </p:sp>
      <p:sp>
        <p:nvSpPr>
          <p:cNvPr id="5" name="태그 대상 시스템 읽기 전용"/>
          <p:cNvSpPr/>
          <p:nvPr/>
        </p:nvSpPr>
        <p:spPr>
          <a:xfrm>
            <a:off x="2318004" y="4160520"/>
            <a:ext cx="2217420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대상 시스템 읽기 전용</a:t>
            </a:r>
            <a:endParaRPr lang="en-US" sz="1400" dirty="0"/>
          </a:p>
        </p:txBody>
      </p:sp>
      <p:sp>
        <p:nvSpPr>
          <p:cNvPr id="6" name="태그 근거 검증"/>
          <p:cNvSpPr/>
          <p:nvPr/>
        </p:nvSpPr>
        <p:spPr>
          <a:xfrm>
            <a:off x="4672584" y="4160520"/>
            <a:ext cx="1221740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근거 검증</a:t>
            </a:r>
            <a:endParaRPr lang="en-US" sz="1400" dirty="0"/>
          </a:p>
        </p:txBody>
      </p:sp>
      <p:sp>
        <p:nvSpPr>
          <p:cNvPr id="7" name="태그 사내 LLM"/>
          <p:cNvSpPr/>
          <p:nvPr/>
        </p:nvSpPr>
        <p:spPr>
          <a:xfrm>
            <a:off x="6031484" y="4160520"/>
            <a:ext cx="1207516" cy="40233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사내 LLM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2026년 10월 · 임원 보고</a:t>
            </a:r>
            <a:endParaRPr lang="en-US" sz="1400" dirty="0"/>
          </a:p>
        </p:txBody>
      </p:sp>
      <p:pic>
        <p:nvPicPr>
          <p:cNvPr id="9" name="장식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82296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한눈에 보기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숫자가 이상할 때, 원인을 찾아 근거와 함께 알려 주는 AI 조사 담당</a:t>
            </a:r>
            <a:endParaRPr lang="en-US" sz="1400" dirty="0"/>
          </a:p>
        </p:txBody>
      </p:sp>
      <p:sp>
        <p:nvSpPr>
          <p:cNvPr id="4" name="요약 카드 1"/>
          <p:cNvSpPr/>
          <p:nvPr/>
        </p:nvSpPr>
        <p:spPr>
          <a:xfrm>
            <a:off x="457200" y="1554480"/>
            <a:ext cx="3575304" cy="361188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" name="아이콘 원"/>
          <p:cNvSpPr/>
          <p:nvPr/>
        </p:nvSpPr>
        <p:spPr>
          <a:xfrm>
            <a:off x="777240" y="1920240"/>
            <a:ext cx="786384" cy="786384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6" name="아이콘 LuSparkl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97180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무엇을 하나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20440"/>
            <a:ext cx="2935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28개 사이트를 스스로 순찰하다 이상을 찾으면, 데이터와 코드를 거슬러 원인을 조사해 보고서로 보낸다.</a:t>
            </a:r>
            <a:endParaRPr lang="en-US" sz="1400" dirty="0"/>
          </a:p>
        </p:txBody>
      </p:sp>
      <p:sp>
        <p:nvSpPr>
          <p:cNvPr id="9" name="요약 카드 2"/>
          <p:cNvSpPr/>
          <p:nvPr/>
        </p:nvSpPr>
        <p:spPr>
          <a:xfrm>
            <a:off x="4306824" y="1554480"/>
            <a:ext cx="3575304" cy="361188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0" name="아이콘 원"/>
          <p:cNvSpPr/>
          <p:nvPr/>
        </p:nvSpPr>
        <p:spPr>
          <a:xfrm>
            <a:off x="4626864" y="1920240"/>
            <a:ext cx="786384" cy="786384"/>
          </a:xfrm>
          <a:prstGeom prst="ellipse">
            <a:avLst/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</p:sp>
      <p:pic>
        <p:nvPicPr>
          <p:cNvPr id="11" name="아이콘 LuShield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11226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26864" y="297180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왜 믿을 수 있나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26864" y="3520440"/>
            <a:ext cx="2935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모든 결론에 증거 번호가 붙고, 규칙이 그 번호가 실제 기록인지 대조한다. 대상 시스템은 읽기만 한다.</a:t>
            </a:r>
            <a:endParaRPr lang="en-US" sz="1400" dirty="0"/>
          </a:p>
        </p:txBody>
      </p:sp>
      <p:sp>
        <p:nvSpPr>
          <p:cNvPr id="14" name="요약 카드 3"/>
          <p:cNvSpPr/>
          <p:nvPr/>
        </p:nvSpPr>
        <p:spPr>
          <a:xfrm>
            <a:off x="8156448" y="1554480"/>
            <a:ext cx="3575304" cy="3611880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15" name="아이콘 원"/>
          <p:cNvSpPr/>
          <p:nvPr/>
        </p:nvSpPr>
        <p:spPr>
          <a:xfrm>
            <a:off x="8476488" y="1920240"/>
            <a:ext cx="786384" cy="786384"/>
          </a:xfrm>
          <a:prstGeom prst="ellipse">
            <a:avLst/>
          </a:prstGeom>
          <a:solidFill>
            <a:srgbClr val="ECFDF5"/>
          </a:solidFill>
          <a:ln w="19050">
            <a:solidFill>
              <a:srgbClr val="0F766E"/>
            </a:solidFill>
            <a:prstDash val="solid"/>
          </a:ln>
        </p:spPr>
      </p:sp>
      <p:pic>
        <p:nvPicPr>
          <p:cNvPr id="16" name="아이콘 LuUs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11226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76488" y="297180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무엇이 달라지나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76488" y="3520440"/>
            <a:ext cx="2935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탐지·조사·근거 정리는 시스템이 하고, 사람은 판단과 조치에 집중한다.</a:t>
            </a:r>
            <a:endParaRPr lang="en-US" sz="1400" dirty="0"/>
          </a:p>
        </p:txBody>
      </p:sp>
      <p:sp>
        <p:nvSpPr>
          <p:cNvPr id="19" name="다음 비전 띠"/>
          <p:cNvSpPr/>
          <p:nvPr/>
        </p:nvSpPr>
        <p:spPr>
          <a:xfrm>
            <a:off x="457200" y="5440680"/>
            <a:ext cx="11274552" cy="73152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/>
        </p:spPr>
        <p:txBody>
          <a:bodyPr wrap="square" lIns="787400" tIns="0" rIns="1524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다음 비전   </a:t>
            </a:r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웹 질의 창구  ·  학습 루프  ·  조사 범위 확장</a:t>
            </a:r>
            <a:endParaRPr lang="en-US" sz="1200" dirty="0"/>
          </a:p>
        </p:txBody>
      </p:sp>
      <p:pic>
        <p:nvPicPr>
          <p:cNvPr id="20" name="아이콘 LuRock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641848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숫자 하나가 이상할 때, 원인은 멀리 있다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증상은 운영 화면에서 보이지만, 원인은 그 앞 다섯 단계 중 어디에나 있을 수 있다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증상에서 거슬러 올라가며, 단계마다 하나씩 확인해야 한다</a:t>
            </a:r>
            <a:endParaRPr lang="en-US" sz="1500" dirty="0"/>
          </a:p>
        </p:txBody>
      </p:sp>
      <p:sp>
        <p:nvSpPr>
          <p:cNvPr id="5" name="거슬러 오르는 화살표"/>
          <p:cNvSpPr/>
          <p:nvPr/>
        </p:nvSpPr>
        <p:spPr>
          <a:xfrm flipV="1">
            <a:off x="10885932" y="1810512"/>
            <a:ext cx="0" cy="201168"/>
          </a:xfrm>
          <a:prstGeom prst="line">
            <a:avLst/>
          </a:prstGeom>
          <a:noFill/>
          <a:ln w="31750">
            <a:solidFill>
              <a:srgbClr val="0F172A"/>
            </a:solidFill>
            <a:prstDash val="solid"/>
          </a:ln>
        </p:spPr>
      </p:sp>
      <p:sp>
        <p:nvSpPr>
          <p:cNvPr id="6" name="거슬러 오르는 화살표"/>
          <p:cNvSpPr/>
          <p:nvPr/>
        </p:nvSpPr>
        <p:spPr>
          <a:xfrm flipH="1">
            <a:off x="566928" y="1810512"/>
            <a:ext cx="10319004" cy="0"/>
          </a:xfrm>
          <a:prstGeom prst="line">
            <a:avLst/>
          </a:prstGeom>
          <a:noFill/>
          <a:ln w="3175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7" name="증상 콜아웃"/>
          <p:cNvSpPr/>
          <p:nvPr/>
        </p:nvSpPr>
        <p:spPr>
          <a:xfrm>
            <a:off x="10040112" y="201168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22225">
            <a:solidFill>
              <a:srgbClr val="DC2626"/>
            </a:solidFill>
            <a:prstDash val="solid"/>
          </a:ln>
        </p:spPr>
        <p:txBody>
          <a:bodyPr wrap="square" lIns="76200" tIns="63500" rIns="762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증상은 여기서 보인다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</a:rPr>
              <a:t>알람 현황 0/0/0</a:t>
            </a:r>
            <a:endParaRPr lang="en-US" sz="1200" dirty="0"/>
          </a:p>
        </p:txBody>
      </p:sp>
      <p:sp>
        <p:nvSpPr>
          <p:cNvPr id="8" name="연결선"/>
          <p:cNvSpPr/>
          <p:nvPr/>
        </p:nvSpPr>
        <p:spPr>
          <a:xfrm>
            <a:off x="10885932" y="2651760"/>
            <a:ext cx="0" cy="118872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9" name="단계 설비 데이터"/>
          <p:cNvSpPr/>
          <p:nvPr/>
        </p:nvSpPr>
        <p:spPr>
          <a:xfrm>
            <a:off x="457200" y="27889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5588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설비 데이터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현장에서 수집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예: 수집 중단</a:t>
            </a:r>
            <a:endParaRPr lang="en-US" sz="1200" dirty="0"/>
          </a:p>
        </p:txBody>
      </p:sp>
      <p:pic>
        <p:nvPicPr>
          <p:cNvPr id="10" name="아이콘 LuFactor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2916936"/>
            <a:ext cx="310896" cy="310896"/>
          </a:xfrm>
          <a:prstGeom prst="rect">
            <a:avLst/>
          </a:prstGeom>
        </p:spPr>
      </p:pic>
      <p:sp>
        <p:nvSpPr>
          <p:cNvPr id="11" name="물음표"/>
          <p:cNvSpPr/>
          <p:nvPr/>
        </p:nvSpPr>
        <p:spPr>
          <a:xfrm>
            <a:off x="1764792" y="2907792"/>
            <a:ext cx="274320" cy="274320"/>
          </a:xfrm>
          <a:prstGeom prst="ellipse">
            <a:avLst/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?</a:t>
            </a:r>
            <a:endParaRPr lang="en-US" sz="1200" dirty="0"/>
          </a:p>
        </p:txBody>
      </p:sp>
      <p:sp>
        <p:nvSpPr>
          <p:cNvPr id="12" name="연결선"/>
          <p:cNvSpPr/>
          <p:nvPr/>
        </p:nvSpPr>
        <p:spPr>
          <a:xfrm>
            <a:off x="2185416" y="3474720"/>
            <a:ext cx="15179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단계 Kafka"/>
          <p:cNvSpPr/>
          <p:nvPr/>
        </p:nvSpPr>
        <p:spPr>
          <a:xfrm>
            <a:off x="2373782" y="27889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5588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Kafka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메시지 대기열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예: 메시지 적체</a:t>
            </a:r>
            <a:endParaRPr lang="en-US" sz="1200" dirty="0"/>
          </a:p>
        </p:txBody>
      </p:sp>
      <p:pic>
        <p:nvPicPr>
          <p:cNvPr id="14" name="아이콘 LuLay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798" y="2916936"/>
            <a:ext cx="310896" cy="310896"/>
          </a:xfrm>
          <a:prstGeom prst="rect">
            <a:avLst/>
          </a:prstGeom>
        </p:spPr>
      </p:pic>
      <p:sp>
        <p:nvSpPr>
          <p:cNvPr id="15" name="물음표"/>
          <p:cNvSpPr/>
          <p:nvPr/>
        </p:nvSpPr>
        <p:spPr>
          <a:xfrm>
            <a:off x="3681374" y="2907792"/>
            <a:ext cx="274320" cy="274320"/>
          </a:xfrm>
          <a:prstGeom prst="ellipse">
            <a:avLst/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?</a:t>
            </a:r>
            <a:endParaRPr lang="en-US" sz="1200" dirty="0"/>
          </a:p>
        </p:txBody>
      </p:sp>
      <p:sp>
        <p:nvSpPr>
          <p:cNvPr id="16" name="연결선"/>
          <p:cNvSpPr/>
          <p:nvPr/>
        </p:nvSpPr>
        <p:spPr>
          <a:xfrm>
            <a:off x="4101998" y="3474720"/>
            <a:ext cx="15179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단계 처리 서비스"/>
          <p:cNvSpPr/>
          <p:nvPr/>
        </p:nvSpPr>
        <p:spPr>
          <a:xfrm>
            <a:off x="4290365" y="27889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5588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처리 서비스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가공·집계 프로그램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예: 계산 로직 오류</a:t>
            </a:r>
            <a:endParaRPr lang="en-US" sz="1200" dirty="0"/>
          </a:p>
        </p:txBody>
      </p:sp>
      <p:pic>
        <p:nvPicPr>
          <p:cNvPr id="18" name="아이콘 LuCo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381" y="2916936"/>
            <a:ext cx="310896" cy="310896"/>
          </a:xfrm>
          <a:prstGeom prst="rect">
            <a:avLst/>
          </a:prstGeom>
        </p:spPr>
      </p:pic>
      <p:sp>
        <p:nvSpPr>
          <p:cNvPr id="19" name="물음표"/>
          <p:cNvSpPr/>
          <p:nvPr/>
        </p:nvSpPr>
        <p:spPr>
          <a:xfrm>
            <a:off x="5597957" y="2907792"/>
            <a:ext cx="274320" cy="274320"/>
          </a:xfrm>
          <a:prstGeom prst="ellipse">
            <a:avLst/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?</a:t>
            </a:r>
            <a:endParaRPr lang="en-US" sz="1200" dirty="0"/>
          </a:p>
        </p:txBody>
      </p:sp>
      <p:sp>
        <p:nvSpPr>
          <p:cNvPr id="20" name="연결선"/>
          <p:cNvSpPr/>
          <p:nvPr/>
        </p:nvSpPr>
        <p:spPr>
          <a:xfrm>
            <a:off x="6018581" y="3474720"/>
            <a:ext cx="15179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단계 Redis·Mongo"/>
          <p:cNvSpPr/>
          <p:nvPr/>
        </p:nvSpPr>
        <p:spPr>
          <a:xfrm>
            <a:off x="6206947" y="27889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5588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Redis·Mongo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저장소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예: 저장 누락·만료</a:t>
            </a:r>
            <a:endParaRPr lang="en-US" sz="1200" dirty="0"/>
          </a:p>
        </p:txBody>
      </p:sp>
      <p:pic>
        <p:nvPicPr>
          <p:cNvPr id="22" name="아이콘 LuDatab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963" y="2916936"/>
            <a:ext cx="310896" cy="310896"/>
          </a:xfrm>
          <a:prstGeom prst="rect">
            <a:avLst/>
          </a:prstGeom>
        </p:spPr>
      </p:pic>
      <p:sp>
        <p:nvSpPr>
          <p:cNvPr id="23" name="물음표"/>
          <p:cNvSpPr/>
          <p:nvPr/>
        </p:nvSpPr>
        <p:spPr>
          <a:xfrm>
            <a:off x="7514539" y="2907792"/>
            <a:ext cx="274320" cy="274320"/>
          </a:xfrm>
          <a:prstGeom prst="ellipse">
            <a:avLst/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?</a:t>
            </a:r>
            <a:endParaRPr lang="en-US" sz="1200" dirty="0"/>
          </a:p>
        </p:txBody>
      </p:sp>
      <p:sp>
        <p:nvSpPr>
          <p:cNvPr id="24" name="연결선"/>
          <p:cNvSpPr/>
          <p:nvPr/>
        </p:nvSpPr>
        <p:spPr>
          <a:xfrm>
            <a:off x="7935163" y="3474720"/>
            <a:ext cx="15179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단계 REST API"/>
          <p:cNvSpPr/>
          <p:nvPr/>
        </p:nvSpPr>
        <p:spPr>
          <a:xfrm>
            <a:off x="8123530" y="27889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5588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REST API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화면에 값을 주는 창구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334155"/>
                </a:solidFill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예: 조회 조건 오류</a:t>
            </a:r>
            <a:endParaRPr lang="en-US" sz="1200" dirty="0"/>
          </a:p>
        </p:txBody>
      </p:sp>
      <p:pic>
        <p:nvPicPr>
          <p:cNvPr id="26" name="아이콘 LuPlu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546" y="2916936"/>
            <a:ext cx="310896" cy="310896"/>
          </a:xfrm>
          <a:prstGeom prst="rect">
            <a:avLst/>
          </a:prstGeom>
        </p:spPr>
      </p:pic>
      <p:sp>
        <p:nvSpPr>
          <p:cNvPr id="27" name="물음표"/>
          <p:cNvSpPr/>
          <p:nvPr/>
        </p:nvSpPr>
        <p:spPr>
          <a:xfrm>
            <a:off x="9431122" y="2907792"/>
            <a:ext cx="274320" cy="274320"/>
          </a:xfrm>
          <a:prstGeom prst="ellipse">
            <a:avLst/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?</a:t>
            </a:r>
            <a:endParaRPr lang="en-US" sz="1200" dirty="0"/>
          </a:p>
        </p:txBody>
      </p:sp>
      <p:sp>
        <p:nvSpPr>
          <p:cNvPr id="28" name="연결선"/>
          <p:cNvSpPr/>
          <p:nvPr/>
        </p:nvSpPr>
        <p:spPr>
          <a:xfrm>
            <a:off x="9851746" y="3474720"/>
            <a:ext cx="15179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단계 운영 화면"/>
          <p:cNvSpPr/>
          <p:nvPr/>
        </p:nvSpPr>
        <p:spPr>
          <a:xfrm>
            <a:off x="10040112" y="27889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22225">
            <a:solidFill>
              <a:srgbClr val="DC2626"/>
            </a:solidFill>
            <a:prstDash val="solid"/>
          </a:ln>
        </p:spPr>
        <p:txBody>
          <a:bodyPr wrap="square" lIns="127000" tIns="5588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91B1B"/>
                </a:solidFill>
              </a:rPr>
              <a:t>운영 화면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사람이 보는 숫자</a:t>
            </a:r>
            <a:endParaRPr lang="en-US" sz="1200" dirty="0"/>
          </a:p>
        </p:txBody>
      </p:sp>
      <p:pic>
        <p:nvPicPr>
          <p:cNvPr id="30" name="아이콘 LuMonito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2916936"/>
            <a:ext cx="310896" cy="310896"/>
          </a:xfrm>
          <a:prstGeom prst="rect">
            <a:avLst/>
          </a:prstGeom>
        </p:spPr>
      </p:pic>
      <p:sp>
        <p:nvSpPr>
          <p:cNvPr id="31" name="원인 범위 괄호"/>
          <p:cNvSpPr/>
          <p:nvPr/>
        </p:nvSpPr>
        <p:spPr>
          <a:xfrm>
            <a:off x="457200" y="4224528"/>
            <a:ext cx="0" cy="9144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32" name="원인 범위 괄호"/>
          <p:cNvSpPr/>
          <p:nvPr/>
        </p:nvSpPr>
        <p:spPr>
          <a:xfrm>
            <a:off x="457200" y="4315968"/>
            <a:ext cx="935797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33" name="원인 범위 괄호"/>
          <p:cNvSpPr/>
          <p:nvPr/>
        </p:nvSpPr>
        <p:spPr>
          <a:xfrm flipV="1">
            <a:off x="9815170" y="4224528"/>
            <a:ext cx="0" cy="9144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34" name="Text 26"/>
          <p:cNvSpPr txBox="1"/>
          <p:nvPr/>
        </p:nvSpPr>
        <p:spPr>
          <a:xfrm>
            <a:off x="457200" y="4407408"/>
            <a:ext cx="9357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원인은 이 다섯 단계 중 어디에나 있을 수 있다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4864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원인을 찾으려면</a:t>
            </a:r>
            <a:endParaRPr lang="en-US" sz="1300" dirty="0"/>
          </a:p>
        </p:txBody>
      </p:sp>
      <p:sp>
        <p:nvSpPr>
          <p:cNvPr id="36" name="저장소 4종을 각각 조회"/>
          <p:cNvSpPr/>
          <p:nvPr/>
        </p:nvSpPr>
        <p:spPr>
          <a:xfrm>
            <a:off x="457200" y="5166360"/>
            <a:ext cx="3575304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457200" tIns="1016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저장소 4종을 각각 조회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Kafka · Redis · MongoDB · REST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저장소마다 도구와 묻는 방식이 다르다</a:t>
            </a:r>
            <a:endParaRPr lang="en-US" sz="1200" dirty="0"/>
          </a:p>
        </p:txBody>
      </p:sp>
      <p:pic>
        <p:nvPicPr>
          <p:cNvPr id="37" name="아이콘 LuDatabas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5277104"/>
            <a:ext cx="240030" cy="240030"/>
          </a:xfrm>
          <a:prstGeom prst="rect">
            <a:avLst/>
          </a:prstGeom>
        </p:spPr>
      </p:pic>
      <p:sp>
        <p:nvSpPr>
          <p:cNvPr id="38" name="서비스 코드를 읽어 연결 파악"/>
          <p:cNvSpPr/>
          <p:nvPr/>
        </p:nvSpPr>
        <p:spPr>
          <a:xfrm>
            <a:off x="4306824" y="5166360"/>
            <a:ext cx="3575304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457200" tIns="1016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서비스 코드를 읽어 연결 파악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어느 값을 누가 만들고 누가 읽는지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코드 모듈 980개 · API 끝점 156개 (사내 측정)</a:t>
            </a:r>
            <a:endParaRPr lang="en-US" sz="1200" dirty="0"/>
          </a:p>
        </p:txBody>
      </p:sp>
      <p:pic>
        <p:nvPicPr>
          <p:cNvPr id="39" name="아이콘 LuCod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5277104"/>
            <a:ext cx="240030" cy="240030"/>
          </a:xfrm>
          <a:prstGeom prst="rect">
            <a:avLst/>
          </a:prstGeom>
        </p:spPr>
      </p:pic>
      <p:sp>
        <p:nvSpPr>
          <p:cNvPr id="40" name="28개 사이트마다 반복"/>
          <p:cNvSpPr/>
          <p:nvPr/>
        </p:nvSpPr>
        <p:spPr>
          <a:xfrm>
            <a:off x="8156448" y="5166360"/>
            <a:ext cx="3575304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457200" tIns="1016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28개 사이트마다 반복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사업부마다 배포된 코드 버전이 다르다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한 곳의 답이 다른 곳의 답은 아니다</a:t>
            </a:r>
            <a:endParaRPr lang="en-US" sz="1200" dirty="0"/>
          </a:p>
        </p:txBody>
      </p:sp>
      <p:pic>
        <p:nvPicPr>
          <p:cNvPr id="41" name="아이콘 LuRadar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4464" y="5277104"/>
            <a:ext cx="240030" cy="2400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사람의 일이 ‘찾기’에서 ‘판단과 조치’로 바뀐다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지금은 다섯 단계 모두 사람 손이 간다. 완성 후에는 판단과 조치, 한 단계다</a:t>
            </a:r>
            <a:endParaRPr lang="en-US" sz="1400" dirty="0"/>
          </a:p>
        </p:txBody>
      </p:sp>
      <p:sp>
        <p:nvSpPr>
          <p:cNvPr id="4" name="구분 지금"/>
          <p:cNvSpPr/>
          <p:nvPr/>
        </p:nvSpPr>
        <p:spPr>
          <a:xfrm>
            <a:off x="457200" y="1481328"/>
            <a:ext cx="1051560" cy="164592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127000" tIns="0" rIns="762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지금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사람이 찾고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사람이 판단</a:t>
            </a:r>
            <a:endParaRPr lang="en-US" sz="1200" dirty="0"/>
          </a:p>
        </p:txBody>
      </p:sp>
      <p:sp>
        <p:nvSpPr>
          <p:cNvPr id="5" name="단계 누군가 알아챔"/>
          <p:cNvSpPr/>
          <p:nvPr/>
        </p:nvSpPr>
        <p:spPr>
          <a:xfrm>
            <a:off x="1645920" y="1481328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누군가 알아챔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화면을 보던 사람, 현장 문의</a:t>
            </a:r>
            <a:endParaRPr lang="en-US" sz="1200" dirty="0"/>
          </a:p>
        </p:txBody>
      </p:sp>
      <p:sp>
        <p:nvSpPr>
          <p:cNvPr id="6" name="사람 표시"/>
          <p:cNvSpPr/>
          <p:nvPr/>
        </p:nvSpPr>
        <p:spPr>
          <a:xfrm>
            <a:off x="2763317" y="2670048"/>
            <a:ext cx="329184" cy="329184"/>
          </a:xfrm>
          <a:prstGeom prst="ellipse">
            <a:avLst/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</p:sp>
      <p:pic>
        <p:nvPicPr>
          <p:cNvPr id="7" name="아이콘 Lu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7325" y="2734056"/>
            <a:ext cx="201168" cy="201168"/>
          </a:xfrm>
          <a:prstGeom prst="rect">
            <a:avLst/>
          </a:prstGeom>
        </p:spPr>
      </p:pic>
      <p:sp>
        <p:nvSpPr>
          <p:cNvPr id="8" name="연결선"/>
          <p:cNvSpPr/>
          <p:nvPr/>
        </p:nvSpPr>
        <p:spPr>
          <a:xfrm>
            <a:off x="3238805" y="230428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단계 시스템별 확인"/>
          <p:cNvSpPr/>
          <p:nvPr/>
        </p:nvSpPr>
        <p:spPr>
          <a:xfrm>
            <a:off x="3366821" y="1481328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시스템별 확인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Kafka · Redis · MongoDB · API 각각</a:t>
            </a:r>
            <a:endParaRPr lang="en-US" sz="1200" dirty="0"/>
          </a:p>
        </p:txBody>
      </p:sp>
      <p:sp>
        <p:nvSpPr>
          <p:cNvPr id="10" name="사람 표시"/>
          <p:cNvSpPr/>
          <p:nvPr/>
        </p:nvSpPr>
        <p:spPr>
          <a:xfrm>
            <a:off x="4484218" y="2670048"/>
            <a:ext cx="329184" cy="329184"/>
          </a:xfrm>
          <a:prstGeom prst="ellipse">
            <a:avLst/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</p:sp>
      <p:pic>
        <p:nvPicPr>
          <p:cNvPr id="11" name="아이콘 LuUs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226" y="2734056"/>
            <a:ext cx="201168" cy="201168"/>
          </a:xfrm>
          <a:prstGeom prst="rect">
            <a:avLst/>
          </a:prstGeom>
        </p:spPr>
      </p:pic>
      <p:sp>
        <p:nvSpPr>
          <p:cNvPr id="12" name="연결선"/>
          <p:cNvSpPr/>
          <p:nvPr/>
        </p:nvSpPr>
        <p:spPr>
          <a:xfrm>
            <a:off x="4959706" y="230428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단계 코드 직접 추적"/>
          <p:cNvSpPr/>
          <p:nvPr/>
        </p:nvSpPr>
        <p:spPr>
          <a:xfrm>
            <a:off x="5087722" y="1481328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코드 직접 추적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어느 서비스가 무엇을 쓰고 읽는지</a:t>
            </a:r>
            <a:endParaRPr lang="en-US" sz="1200" dirty="0"/>
          </a:p>
        </p:txBody>
      </p:sp>
      <p:sp>
        <p:nvSpPr>
          <p:cNvPr id="14" name="사람 표시"/>
          <p:cNvSpPr/>
          <p:nvPr/>
        </p:nvSpPr>
        <p:spPr>
          <a:xfrm>
            <a:off x="6205118" y="2670048"/>
            <a:ext cx="329184" cy="329184"/>
          </a:xfrm>
          <a:prstGeom prst="ellipse">
            <a:avLst/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</p:sp>
      <p:pic>
        <p:nvPicPr>
          <p:cNvPr id="15" name="아이콘 LuUs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126" y="2734056"/>
            <a:ext cx="201168" cy="201168"/>
          </a:xfrm>
          <a:prstGeom prst="rect">
            <a:avLst/>
          </a:prstGeom>
        </p:spPr>
      </p:pic>
      <p:sp>
        <p:nvSpPr>
          <p:cNvPr id="16" name="연결선"/>
          <p:cNvSpPr/>
          <p:nvPr/>
        </p:nvSpPr>
        <p:spPr>
          <a:xfrm>
            <a:off x="6680606" y="230428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단계 원인 추정"/>
          <p:cNvSpPr/>
          <p:nvPr/>
        </p:nvSpPr>
        <p:spPr>
          <a:xfrm>
            <a:off x="6808622" y="1481328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원인 추정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근거 정리도 사람 몫</a:t>
            </a:r>
            <a:endParaRPr lang="en-US" sz="1200" dirty="0"/>
          </a:p>
        </p:txBody>
      </p:sp>
      <p:sp>
        <p:nvSpPr>
          <p:cNvPr id="18" name="사람 표시"/>
          <p:cNvSpPr/>
          <p:nvPr/>
        </p:nvSpPr>
        <p:spPr>
          <a:xfrm>
            <a:off x="7926019" y="2670048"/>
            <a:ext cx="329184" cy="329184"/>
          </a:xfrm>
          <a:prstGeom prst="ellipse">
            <a:avLst/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</p:sp>
      <p:pic>
        <p:nvPicPr>
          <p:cNvPr id="19" name="아이콘 LuUs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027" y="2734056"/>
            <a:ext cx="201168" cy="201168"/>
          </a:xfrm>
          <a:prstGeom prst="rect">
            <a:avLst/>
          </a:prstGeom>
        </p:spPr>
      </p:pic>
      <p:sp>
        <p:nvSpPr>
          <p:cNvPr id="20" name="연결선"/>
          <p:cNvSpPr/>
          <p:nvPr/>
        </p:nvSpPr>
        <p:spPr>
          <a:xfrm>
            <a:off x="8401507" y="230428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단계 조치"/>
          <p:cNvSpPr/>
          <p:nvPr/>
        </p:nvSpPr>
        <p:spPr>
          <a:xfrm>
            <a:off x="8529523" y="1481328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조치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담당자가 실행</a:t>
            </a:r>
            <a:endParaRPr lang="en-US" sz="1200" dirty="0"/>
          </a:p>
        </p:txBody>
      </p:sp>
      <p:sp>
        <p:nvSpPr>
          <p:cNvPr id="22" name="사람 표시"/>
          <p:cNvSpPr/>
          <p:nvPr/>
        </p:nvSpPr>
        <p:spPr>
          <a:xfrm>
            <a:off x="9646920" y="2670048"/>
            <a:ext cx="329184" cy="329184"/>
          </a:xfrm>
          <a:prstGeom prst="ellipse">
            <a:avLst/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</p:sp>
      <p:pic>
        <p:nvPicPr>
          <p:cNvPr id="23" name="아이콘 LuUs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2734056"/>
            <a:ext cx="201168" cy="201168"/>
          </a:xfrm>
          <a:prstGeom prst="rect">
            <a:avLst/>
          </a:prstGeom>
        </p:spPr>
      </p:pic>
      <p:sp>
        <p:nvSpPr>
          <p:cNvPr id="24" name="사람 단계 수 지금"/>
          <p:cNvSpPr/>
          <p:nvPr/>
        </p:nvSpPr>
        <p:spPr>
          <a:xfrm>
            <a:off x="10241280" y="1481328"/>
            <a:ext cx="1490472" cy="1645920"/>
          </a:xfrm>
          <a:prstGeom prst="roundRect">
            <a:avLst>
              <a:gd name="adj" fmla="val 6135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152400" tIns="127000" rIns="1016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5E59"/>
                </a:solidFill>
              </a:rPr>
              <a:t>사람 손이 가는 단계</a:t>
            </a:r>
            <a:endParaRPr lang="en-US" sz="12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5</a:t>
            </a:r>
            <a:pPr algn="l" indent="0" marL="0">
              <a:buNone/>
            </a:pPr>
            <a:r>
              <a:rPr lang="en-US" sz="1800" b="1" dirty="0">
                <a:solidFill>
                  <a:srgbClr val="115E59"/>
                </a:solidFill>
              </a:rPr>
              <a:t> 단계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64592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⚠ 늦게 알아챌수록 그 사이 데이터는 못 쓴다</a:t>
            </a:r>
            <a:endParaRPr lang="en-US" sz="1200" dirty="0"/>
          </a:p>
        </p:txBody>
      </p:sp>
      <p:sp>
        <p:nvSpPr>
          <p:cNvPr id="26" name="구분선"/>
          <p:cNvSpPr/>
          <p:nvPr/>
        </p:nvSpPr>
        <p:spPr>
          <a:xfrm>
            <a:off x="457200" y="3749040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ot"/>
          </a:ln>
        </p:spPr>
      </p:sp>
      <p:sp>
        <p:nvSpPr>
          <p:cNvPr id="27" name="전환 표시"/>
          <p:cNvSpPr/>
          <p:nvPr/>
        </p:nvSpPr>
        <p:spPr>
          <a:xfrm>
            <a:off x="5897880" y="354787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pic>
        <p:nvPicPr>
          <p:cNvPr id="28" name="아이콘 LuArrowDow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639312"/>
            <a:ext cx="219456" cy="219456"/>
          </a:xfrm>
          <a:prstGeom prst="rect">
            <a:avLst/>
          </a:prstGeom>
        </p:spPr>
      </p:pic>
      <p:sp>
        <p:nvSpPr>
          <p:cNvPr id="29" name="구분 완성 후"/>
          <p:cNvSpPr/>
          <p:nvPr/>
        </p:nvSpPr>
        <p:spPr>
          <a:xfrm>
            <a:off x="457200" y="4114800"/>
            <a:ext cx="1051560" cy="164592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127000" tIns="0" rIns="762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완성 후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AI가 찾고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사람이 판단</a:t>
            </a:r>
            <a:endParaRPr lang="en-US" sz="1200" dirty="0"/>
          </a:p>
        </p:txBody>
      </p:sp>
      <p:sp>
        <p:nvSpPr>
          <p:cNvPr id="30" name="단계 순찰이 발견"/>
          <p:cNvSpPr/>
          <p:nvPr/>
        </p:nvSpPr>
        <p:spPr>
          <a:xfrm>
            <a:off x="1645920" y="4114800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순찰이 발견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정해진 주기로 28개 사이트 점검</a:t>
            </a:r>
            <a:endParaRPr lang="en-US" sz="1200" dirty="0"/>
          </a:p>
        </p:txBody>
      </p:sp>
      <p:sp>
        <p:nvSpPr>
          <p:cNvPr id="31" name="연결선"/>
          <p:cNvSpPr/>
          <p:nvPr/>
        </p:nvSpPr>
        <p:spPr>
          <a:xfrm>
            <a:off x="3238805" y="49377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단계 AI가 조사"/>
          <p:cNvSpPr/>
          <p:nvPr/>
        </p:nvSpPr>
        <p:spPr>
          <a:xfrm>
            <a:off x="3366821" y="4114800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AI가 조사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데이터 조회 · 코드 추적 · 재계산 대조</a:t>
            </a:r>
            <a:endParaRPr lang="en-US" sz="1200" dirty="0"/>
          </a:p>
        </p:txBody>
      </p:sp>
      <p:sp>
        <p:nvSpPr>
          <p:cNvPr id="33" name="연결선"/>
          <p:cNvSpPr/>
          <p:nvPr/>
        </p:nvSpPr>
        <p:spPr>
          <a:xfrm>
            <a:off x="4959706" y="49377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단계 근거 검증"/>
          <p:cNvSpPr/>
          <p:nvPr/>
        </p:nvSpPr>
        <p:spPr>
          <a:xfrm>
            <a:off x="5087722" y="4114800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근거 검증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인용한 증거가 실제 기록인지 대조</a:t>
            </a:r>
            <a:endParaRPr lang="en-US" sz="1200" dirty="0"/>
          </a:p>
        </p:txBody>
      </p:sp>
      <p:sp>
        <p:nvSpPr>
          <p:cNvPr id="35" name="연결선"/>
          <p:cNvSpPr/>
          <p:nvPr/>
        </p:nvSpPr>
        <p:spPr>
          <a:xfrm>
            <a:off x="6680606" y="49377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단계 보고서 도착"/>
          <p:cNvSpPr/>
          <p:nvPr/>
        </p:nvSpPr>
        <p:spPr>
          <a:xfrm>
            <a:off x="6808622" y="4114800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F8FAFC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보고서 도착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원인 · 근거 · 권고 · 확인 못 한 것</a:t>
            </a:r>
            <a:endParaRPr lang="en-US" sz="1200" dirty="0"/>
          </a:p>
        </p:txBody>
      </p:sp>
      <p:sp>
        <p:nvSpPr>
          <p:cNvPr id="37" name="연결선"/>
          <p:cNvSpPr/>
          <p:nvPr/>
        </p:nvSpPr>
        <p:spPr>
          <a:xfrm>
            <a:off x="8401507" y="493776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단계 판단 · 조치"/>
          <p:cNvSpPr/>
          <p:nvPr/>
        </p:nvSpPr>
        <p:spPr>
          <a:xfrm>
            <a:off x="8529523" y="4114800"/>
            <a:ext cx="1574597" cy="1645920"/>
          </a:xfrm>
          <a:prstGeom prst="roundRect">
            <a:avLst>
              <a:gd name="adj" fmla="val 5807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127000" tIns="127000" rIns="101600" bIns="762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5E59"/>
                </a:solidFill>
              </a:rPr>
              <a:t>판단 · 조치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담당자가 실행</a:t>
            </a:r>
            <a:endParaRPr lang="en-US" sz="1200" dirty="0"/>
          </a:p>
        </p:txBody>
      </p:sp>
      <p:sp>
        <p:nvSpPr>
          <p:cNvPr id="39" name="사람 표시"/>
          <p:cNvSpPr/>
          <p:nvPr/>
        </p:nvSpPr>
        <p:spPr>
          <a:xfrm>
            <a:off x="9646920" y="5303520"/>
            <a:ext cx="329184" cy="329184"/>
          </a:xfrm>
          <a:prstGeom prst="ellipse">
            <a:avLst/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</p:sp>
      <p:pic>
        <p:nvPicPr>
          <p:cNvPr id="40" name="아이콘 LuUse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5367528"/>
            <a:ext cx="201168" cy="201168"/>
          </a:xfrm>
          <a:prstGeom prst="rect">
            <a:avLst/>
          </a:prstGeom>
        </p:spPr>
      </p:pic>
      <p:sp>
        <p:nvSpPr>
          <p:cNvPr id="41" name="사람 단계 수 완성 후"/>
          <p:cNvSpPr/>
          <p:nvPr/>
        </p:nvSpPr>
        <p:spPr>
          <a:xfrm>
            <a:off x="10241280" y="4114800"/>
            <a:ext cx="1490472" cy="1645920"/>
          </a:xfrm>
          <a:prstGeom prst="roundRect">
            <a:avLst>
              <a:gd name="adj" fmla="val 6135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152400" tIns="127000" rIns="1016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5E59"/>
                </a:solidFill>
              </a:rPr>
              <a:t>사람 손이 가는 단계</a:t>
            </a:r>
            <a:endParaRPr lang="en-US" sz="12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1</a:t>
            </a:r>
            <a:pPr algn="l" indent="0" marL="0">
              <a:buNone/>
            </a:pPr>
            <a:r>
              <a:rPr lang="en-US" sz="1800" b="1" dirty="0">
                <a:solidFill>
                  <a:srgbClr val="115E59"/>
                </a:solidFill>
              </a:rPr>
              <a:t> 단계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5E59"/>
                </a:solidFill>
              </a:rPr>
              <a:t>+ 필요할 때 질문에 답변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3366821" y="5833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필요하면 AI가 조사 중에 담당자에게 묻는다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전체 구조 — 입구 둘, 조사 엔진 하나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대상 시스템은 읽기만 하고, 결론은 근거 검증을 거쳐 사람에게 간다</a:t>
            </a:r>
            <a:endParaRPr lang="en-US" sz="1400" dirty="0"/>
          </a:p>
        </p:txBody>
      </p:sp>
      <p:sp>
        <p:nvSpPr>
          <p:cNvPr id="4" name="범례 AI가 판단하는 부분"/>
          <p:cNvSpPr/>
          <p:nvPr/>
        </p:nvSpPr>
        <p:spPr>
          <a:xfrm>
            <a:off x="457200" y="13990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AI가 판단하는 부분</a:t>
            </a:r>
            <a:endParaRPr lang="en-US" sz="1000" dirty="0"/>
          </a:p>
        </p:txBody>
      </p:sp>
      <p:sp>
        <p:nvSpPr>
          <p:cNvPr id="6" name="범례 규칙(코드)이 통제하는 부분"/>
          <p:cNvSpPr/>
          <p:nvPr/>
        </p:nvSpPr>
        <p:spPr>
          <a:xfrm>
            <a:off x="457200" y="16002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75569"/>
          </a:solidFill>
          <a:ln w="15875">
            <a:solidFill>
              <a:srgbClr val="4755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727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규칙(코드)이 통제하는 부분</a:t>
            </a:r>
            <a:endParaRPr lang="en-US" sz="1000" dirty="0"/>
          </a:p>
        </p:txBody>
      </p:sp>
      <p:sp>
        <p:nvSpPr>
          <p:cNvPr id="8" name="범례 사람"/>
          <p:cNvSpPr/>
          <p:nvPr/>
        </p:nvSpPr>
        <p:spPr>
          <a:xfrm>
            <a:off x="457200" y="18013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7739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사람</a:t>
            </a:r>
            <a:endParaRPr lang="en-US" sz="1000" dirty="0"/>
          </a:p>
        </p:txBody>
      </p:sp>
      <p:sp>
        <p:nvSpPr>
          <p:cNvPr id="10" name="참고 지식 띠"/>
          <p:cNvSpPr/>
          <p:nvPr/>
        </p:nvSpPr>
        <p:spPr>
          <a:xfrm>
            <a:off x="2926080" y="1353312"/>
            <a:ext cx="5806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pic>
        <p:nvPicPr>
          <p:cNvPr id="11" name="아이콘 LuBookOpe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49961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401568" y="1490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참고 지식</a:t>
            </a:r>
            <a:endParaRPr lang="en-US" sz="1300" dirty="0"/>
          </a:p>
        </p:txBody>
      </p:sp>
      <p:sp>
        <p:nvSpPr>
          <p:cNvPr id="13" name="지식 배포된 서비스 코드"/>
          <p:cNvSpPr/>
          <p:nvPr/>
        </p:nvSpPr>
        <p:spPr>
          <a:xfrm>
            <a:off x="4434840" y="1481328"/>
            <a:ext cx="1530604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배포된 서비스 코드</a:t>
            </a:r>
            <a:endParaRPr lang="en-US" sz="1100" dirty="0"/>
          </a:p>
        </p:txBody>
      </p:sp>
      <p:sp>
        <p:nvSpPr>
          <p:cNvPr id="14" name="지식 데이터 흐름 지도"/>
          <p:cNvSpPr/>
          <p:nvPr/>
        </p:nvSpPr>
        <p:spPr>
          <a:xfrm>
            <a:off x="6075172" y="1481328"/>
            <a:ext cx="1390904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데이터 흐름 지도</a:t>
            </a:r>
            <a:endParaRPr lang="en-US" sz="1100" dirty="0"/>
          </a:p>
        </p:txBody>
      </p:sp>
      <p:sp>
        <p:nvSpPr>
          <p:cNvPr id="15" name="지식 과거 사건 기록"/>
          <p:cNvSpPr/>
          <p:nvPr/>
        </p:nvSpPr>
        <p:spPr>
          <a:xfrm>
            <a:off x="7575804" y="1481328"/>
            <a:ext cx="1251204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과거 사건 기록</a:t>
            </a:r>
            <a:endParaRPr lang="en-US" sz="1100" dirty="0"/>
          </a:p>
        </p:txBody>
      </p:sp>
      <p:sp>
        <p:nvSpPr>
          <p:cNvPr id="16" name="LLM 게이트웨이"/>
          <p:cNvSpPr/>
          <p:nvPr/>
        </p:nvSpPr>
        <p:spPr>
          <a:xfrm>
            <a:off x="9052560" y="1353312"/>
            <a:ext cx="267919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482600" tIns="63500" rIns="762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사내 LLM 게이트웨이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판단에 쓰는 언어 모델</a:t>
            </a:r>
            <a:endParaRPr lang="en-US" sz="1200" dirty="0"/>
          </a:p>
        </p:txBody>
      </p:sp>
      <p:pic>
        <p:nvPicPr>
          <p:cNvPr id="17" name="아이콘 LuCpu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432" y="149047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57200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입구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9052560" y="2084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결과와 조치</a:t>
            </a:r>
            <a:endParaRPr lang="en-US" sz="1100" dirty="0"/>
          </a:p>
        </p:txBody>
      </p:sp>
      <p:sp>
        <p:nvSpPr>
          <p:cNvPr id="20" name="조사 엔진 울타리"/>
          <p:cNvSpPr/>
          <p:nvPr/>
        </p:nvSpPr>
        <p:spPr>
          <a:xfrm>
            <a:off x="2926080" y="2194560"/>
            <a:ext cx="5806440" cy="2468880"/>
          </a:xfrm>
          <a:prstGeom prst="roundRect">
            <a:avLst>
              <a:gd name="adj" fmla="val 5185"/>
            </a:avLst>
          </a:prstGeom>
          <a:solidFill>
            <a:srgbClr val="FCFDFE"/>
          </a:solidFill>
          <a:ln w="22225">
            <a:solidFill>
              <a:srgbClr val="475569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3090672" y="2258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조사 엔진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160520" y="2304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점선 = 규칙이 정한 울타리</a:t>
            </a:r>
            <a:endParaRPr lang="en-US" sz="1000" dirty="0"/>
          </a:p>
        </p:txBody>
      </p:sp>
      <p:sp>
        <p:nvSpPr>
          <p:cNvPr id="23" name="사건 파일"/>
          <p:cNvSpPr/>
          <p:nvPr/>
        </p:nvSpPr>
        <p:spPr>
          <a:xfrm>
            <a:off x="3054096" y="26974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사건 파일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증상 · 증거 · 경과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같은 문제는 누적</a:t>
            </a:r>
            <a:endParaRPr lang="en-US" sz="1200" dirty="0"/>
          </a:p>
        </p:txBody>
      </p:sp>
      <p:sp>
        <p:nvSpPr>
          <p:cNvPr id="24" name="AI 조사 책임자"/>
          <p:cNvSpPr/>
          <p:nvPr/>
        </p:nvSpPr>
        <p:spPr>
          <a:xfrm>
            <a:off x="4617720" y="26517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4445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AI 조사 책임자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가설을 세우고 다음에 볼 것을 결정</a:t>
            </a:r>
            <a:endParaRPr lang="en-US" sz="1200" dirty="0"/>
          </a:p>
        </p:txBody>
      </p:sp>
      <p:pic>
        <p:nvPicPr>
          <p:cNvPr id="25" name="아이콘 LuSparkl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762504"/>
            <a:ext cx="219456" cy="219456"/>
          </a:xfrm>
          <a:prstGeom prst="rect">
            <a:avLst/>
          </a:prstGeom>
        </p:spPr>
      </p:pic>
      <p:sp>
        <p:nvSpPr>
          <p:cNvPr id="26" name="근거 검증"/>
          <p:cNvSpPr/>
          <p:nvPr/>
        </p:nvSpPr>
        <p:spPr>
          <a:xfrm>
            <a:off x="7178040" y="2697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445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근거 검증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결론이 인용한 증거가 실제 기록인지 대조</a:t>
            </a:r>
            <a:endParaRPr lang="en-US" sz="1200" dirty="0"/>
          </a:p>
        </p:txBody>
      </p:sp>
      <p:pic>
        <p:nvPicPr>
          <p:cNvPr id="27" name="아이콘 LuShield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808224"/>
            <a:ext cx="219456" cy="219456"/>
          </a:xfrm>
          <a:prstGeom prst="rect">
            <a:avLst/>
          </a:prstGeom>
        </p:spPr>
      </p:pic>
      <p:sp>
        <p:nvSpPr>
          <p:cNvPr id="28" name="데이터 조회"/>
          <p:cNvSpPr/>
          <p:nvPr/>
        </p:nvSpPr>
        <p:spPr>
          <a:xfrm>
            <a:off x="3749040" y="39319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19100" tIns="63500" rIns="1016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데이터 조회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저장소·API 값</a:t>
            </a:r>
            <a:endParaRPr lang="en-US" sz="1200" dirty="0"/>
          </a:p>
        </p:txBody>
      </p:sp>
      <p:pic>
        <p:nvPicPr>
          <p:cNvPr id="29" name="아이콘 LuDatabas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4004564"/>
            <a:ext cx="201168" cy="201168"/>
          </a:xfrm>
          <a:prstGeom prst="rect">
            <a:avLst/>
          </a:prstGeom>
        </p:spPr>
      </p:pic>
      <p:sp>
        <p:nvSpPr>
          <p:cNvPr id="30" name="코드 추적"/>
          <p:cNvSpPr/>
          <p:nvPr/>
        </p:nvSpPr>
        <p:spPr>
          <a:xfrm>
            <a:off x="5349240" y="39319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19100" tIns="63500" rIns="1016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코드 추적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배포된 코드</a:t>
            </a:r>
            <a:endParaRPr lang="en-US" sz="1200" dirty="0"/>
          </a:p>
        </p:txBody>
      </p:sp>
      <p:pic>
        <p:nvPicPr>
          <p:cNvPr id="31" name="아이콘 LuCod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256" y="4004564"/>
            <a:ext cx="201168" cy="201168"/>
          </a:xfrm>
          <a:prstGeom prst="rect">
            <a:avLst/>
          </a:prstGeom>
        </p:spPr>
      </p:pic>
      <p:sp>
        <p:nvSpPr>
          <p:cNvPr id="32" name="재계산 대조"/>
          <p:cNvSpPr/>
          <p:nvPr/>
        </p:nvSpPr>
        <p:spPr>
          <a:xfrm>
            <a:off x="6949440" y="39319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19100" tIns="63500" rIns="1016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재계산 대조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다시 계산해 대조</a:t>
            </a:r>
            <a:endParaRPr lang="en-US" sz="1200" dirty="0"/>
          </a:p>
        </p:txBody>
      </p:sp>
      <p:pic>
        <p:nvPicPr>
          <p:cNvPr id="33" name="아이콘 LuCalculato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456" y="4004564"/>
            <a:ext cx="201168" cy="201168"/>
          </a:xfrm>
          <a:prstGeom prst="rect">
            <a:avLst/>
          </a:prstGeom>
        </p:spPr>
      </p:pic>
      <p:sp>
        <p:nvSpPr>
          <p:cNvPr id="34" name="연결선"/>
          <p:cNvSpPr/>
          <p:nvPr/>
        </p:nvSpPr>
        <p:spPr>
          <a:xfrm>
            <a:off x="4425696" y="3127248"/>
            <a:ext cx="17373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연결선"/>
          <p:cNvSpPr/>
          <p:nvPr/>
        </p:nvSpPr>
        <p:spPr>
          <a:xfrm>
            <a:off x="6537960" y="2907792"/>
            <a:ext cx="6217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Text 27"/>
          <p:cNvSpPr txBox="1"/>
          <p:nvPr/>
        </p:nvSpPr>
        <p:spPr>
          <a:xfrm>
            <a:off x="6583680" y="27066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결론</a:t>
            </a:r>
            <a:endParaRPr lang="en-US" sz="1000" dirty="0"/>
          </a:p>
        </p:txBody>
      </p:sp>
      <p:sp>
        <p:nvSpPr>
          <p:cNvPr id="37" name="연결선"/>
          <p:cNvSpPr/>
          <p:nvPr/>
        </p:nvSpPr>
        <p:spPr>
          <a:xfrm flipH="1">
            <a:off x="6556248" y="3346704"/>
            <a:ext cx="6217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8" name="Text 29"/>
          <p:cNvSpPr txBox="1"/>
          <p:nvPr/>
        </p:nvSpPr>
        <p:spPr>
          <a:xfrm>
            <a:off x="6583680" y="33832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부족하면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재작성</a:t>
            </a:r>
            <a:endParaRPr lang="en-US" sz="900" dirty="0"/>
          </a:p>
        </p:txBody>
      </p:sp>
      <p:sp>
        <p:nvSpPr>
          <p:cNvPr id="39" name="연결선"/>
          <p:cNvSpPr/>
          <p:nvPr/>
        </p:nvSpPr>
        <p:spPr>
          <a:xfrm>
            <a:off x="5394960" y="3566160"/>
            <a:ext cx="0" cy="3474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Text 31"/>
          <p:cNvSpPr txBox="1"/>
          <p:nvPr/>
        </p:nvSpPr>
        <p:spPr>
          <a:xfrm>
            <a:off x="4617720" y="3657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조사 지시</a:t>
            </a:r>
            <a:endParaRPr lang="en-US" sz="1000" dirty="0"/>
          </a:p>
        </p:txBody>
      </p:sp>
      <p:sp>
        <p:nvSpPr>
          <p:cNvPr id="41" name="연결선"/>
          <p:cNvSpPr/>
          <p:nvPr/>
        </p:nvSpPr>
        <p:spPr>
          <a:xfrm flipV="1">
            <a:off x="5760720" y="3584448"/>
            <a:ext cx="0" cy="3474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Text 33"/>
          <p:cNvSpPr txBox="1"/>
          <p:nvPr/>
        </p:nvSpPr>
        <p:spPr>
          <a:xfrm>
            <a:off x="5833872" y="3657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결과</a:t>
            </a:r>
            <a:endParaRPr lang="en-US" sz="1000" dirty="0"/>
          </a:p>
        </p:txBody>
      </p:sp>
      <p:sp>
        <p:nvSpPr>
          <p:cNvPr id="43" name="연결선"/>
          <p:cNvSpPr/>
          <p:nvPr/>
        </p:nvSpPr>
        <p:spPr>
          <a:xfrm flipV="1">
            <a:off x="4023360" y="3630168"/>
            <a:ext cx="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Text 35"/>
          <p:cNvSpPr txBox="1"/>
          <p:nvPr/>
        </p:nvSpPr>
        <p:spPr>
          <a:xfrm>
            <a:off x="3017520" y="3685032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증거 기록</a:t>
            </a:r>
            <a:endParaRPr lang="en-US" sz="1000" dirty="0"/>
          </a:p>
        </p:txBody>
      </p:sp>
      <p:sp>
        <p:nvSpPr>
          <p:cNvPr id="45" name="울타리 규칙"/>
          <p:cNvSpPr/>
          <p:nvPr/>
        </p:nvSpPr>
        <p:spPr>
          <a:xfrm>
            <a:off x="5788533" y="4542790"/>
            <a:ext cx="2961894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 wrap="square" lIns="317500" tIns="0" rIns="1143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반복 상한 · 허용된 조회만 · 쓰기 불가</a:t>
            </a:r>
            <a:endParaRPr lang="en-US" sz="1000" dirty="0"/>
          </a:p>
        </p:txBody>
      </p:sp>
      <p:pic>
        <p:nvPicPr>
          <p:cNvPr id="46" name="아이콘 LuLock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8261" y="4584700"/>
            <a:ext cx="158750" cy="158750"/>
          </a:xfrm>
          <a:prstGeom prst="rect">
            <a:avLst/>
          </a:prstGeom>
        </p:spPr>
      </p:pic>
      <p:sp>
        <p:nvSpPr>
          <p:cNvPr id="47" name="담당자 문의"/>
          <p:cNvSpPr/>
          <p:nvPr/>
        </p:nvSpPr>
        <p:spPr>
          <a:xfrm>
            <a:off x="457200" y="228600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457200" tIns="1016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5E59"/>
                </a:solidFill>
              </a:rPr>
              <a:t>담당자 문의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증상을 말로 설명하면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AI가 되물어 사건 접수</a:t>
            </a:r>
            <a:endParaRPr lang="en-US" sz="1200" dirty="0"/>
          </a:p>
        </p:txBody>
      </p:sp>
      <p:pic>
        <p:nvPicPr>
          <p:cNvPr id="48" name="아이콘 LuMessageSquar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" y="2396744"/>
            <a:ext cx="237744" cy="237744"/>
          </a:xfrm>
          <a:prstGeom prst="rect">
            <a:avLst/>
          </a:prstGeom>
        </p:spPr>
      </p:pic>
      <p:sp>
        <p:nvSpPr>
          <p:cNvPr id="49" name="자동 순찰"/>
          <p:cNvSpPr/>
          <p:nvPr/>
        </p:nvSpPr>
        <p:spPr>
          <a:xfrm>
            <a:off x="457200" y="361188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57200" tIns="1016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자동 순찰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28개 사이트 정기 점검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이상 발견 시 자동 개설</a:t>
            </a:r>
            <a:endParaRPr lang="en-US" sz="1200" dirty="0"/>
          </a:p>
        </p:txBody>
      </p:sp>
      <p:pic>
        <p:nvPicPr>
          <p:cNvPr id="50" name="아이콘 LuRadar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" y="3722624"/>
            <a:ext cx="237744" cy="237744"/>
          </a:xfrm>
          <a:prstGeom prst="rect">
            <a:avLst/>
          </a:prstGeom>
        </p:spPr>
      </p:pic>
      <p:sp>
        <p:nvSpPr>
          <p:cNvPr id="51" name="연결선"/>
          <p:cNvSpPr/>
          <p:nvPr/>
        </p:nvSpPr>
        <p:spPr>
          <a:xfrm>
            <a:off x="2606040" y="2761488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2" name="연결선"/>
          <p:cNvSpPr/>
          <p:nvPr/>
        </p:nvSpPr>
        <p:spPr>
          <a:xfrm>
            <a:off x="2788920" y="2761488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3" name="연결선"/>
          <p:cNvSpPr/>
          <p:nvPr/>
        </p:nvSpPr>
        <p:spPr>
          <a:xfrm>
            <a:off x="2788920" y="3127248"/>
            <a:ext cx="2651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4" name="연결선"/>
          <p:cNvSpPr/>
          <p:nvPr/>
        </p:nvSpPr>
        <p:spPr>
          <a:xfrm>
            <a:off x="2606040" y="4087368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5" name="연결선"/>
          <p:cNvSpPr/>
          <p:nvPr/>
        </p:nvSpPr>
        <p:spPr>
          <a:xfrm flipV="1">
            <a:off x="2788920" y="3127248"/>
            <a:ext cx="0" cy="9601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6" name="조사 보고서 (메일)"/>
          <p:cNvSpPr/>
          <p:nvPr/>
        </p:nvSpPr>
        <p:spPr>
          <a:xfrm>
            <a:off x="9052560" y="2286000"/>
            <a:ext cx="2679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457200" tIns="1016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조사 보고서 (메일)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원인과 근거 · 조치 권고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확인하지 못한 것 · 검증 결과</a:t>
            </a:r>
            <a:endParaRPr lang="en-US" sz="1200" dirty="0"/>
          </a:p>
        </p:txBody>
      </p:sp>
      <p:pic>
        <p:nvPicPr>
          <p:cNvPr id="57" name="아이콘 LuFileText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0576" y="2396744"/>
            <a:ext cx="237744" cy="237744"/>
          </a:xfrm>
          <a:prstGeom prst="rect">
            <a:avLst/>
          </a:prstGeom>
        </p:spPr>
      </p:pic>
      <p:sp>
        <p:nvSpPr>
          <p:cNvPr id="58" name="연결선"/>
          <p:cNvSpPr/>
          <p:nvPr/>
        </p:nvSpPr>
        <p:spPr>
          <a:xfrm>
            <a:off x="8595360" y="3154680"/>
            <a:ext cx="4389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9" name="담당자"/>
          <p:cNvSpPr/>
          <p:nvPr/>
        </p:nvSpPr>
        <p:spPr>
          <a:xfrm>
            <a:off x="9052560" y="3840480"/>
            <a:ext cx="2679192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457200" tIns="101600" rIns="101600" bIns="762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5E59"/>
                </a:solidFill>
              </a:rPr>
              <a:t>담당자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판단하고 조치를 실행</a:t>
            </a:r>
            <a:endParaRPr lang="en-US" sz="1200" dirty="0"/>
          </a:p>
        </p:txBody>
      </p:sp>
      <p:pic>
        <p:nvPicPr>
          <p:cNvPr id="60" name="아이콘 LuUser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576" y="3951224"/>
            <a:ext cx="237744" cy="237744"/>
          </a:xfrm>
          <a:prstGeom prst="rect">
            <a:avLst/>
          </a:prstGeom>
        </p:spPr>
      </p:pic>
      <p:sp>
        <p:nvSpPr>
          <p:cNvPr id="61" name="연결선"/>
          <p:cNvSpPr/>
          <p:nvPr/>
        </p:nvSpPr>
        <p:spPr>
          <a:xfrm>
            <a:off x="10387584" y="3520440"/>
            <a:ext cx="0" cy="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2" name="연결선"/>
          <p:cNvSpPr/>
          <p:nvPr/>
        </p:nvSpPr>
        <p:spPr>
          <a:xfrm>
            <a:off x="8750808" y="4407408"/>
            <a:ext cx="283464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dash"/>
            <a:headEnd type="triangle"/>
            <a:tailEnd type="triangle"/>
          </a:ln>
        </p:spPr>
      </p:sp>
      <p:sp>
        <p:nvSpPr>
          <p:cNvPr id="63" name="Text 49"/>
          <p:cNvSpPr txBox="1"/>
          <p:nvPr/>
        </p:nvSpPr>
        <p:spPr>
          <a:xfrm>
            <a:off x="8759952" y="40416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질문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답변</a:t>
            </a:r>
            <a:endParaRPr lang="en-US" sz="900" dirty="0"/>
          </a:p>
        </p:txBody>
      </p:sp>
      <p:sp>
        <p:nvSpPr>
          <p:cNvPr id="64" name="정기 집계"/>
          <p:cNvSpPr/>
          <p:nvPr/>
        </p:nvSpPr>
        <p:spPr>
          <a:xfrm>
            <a:off x="6583680" y="484632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19100" tIns="63500" rIns="1016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정기 집계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숫자는 코드가, 설명은 AI가</a:t>
            </a:r>
            <a:endParaRPr lang="en-US" sz="1200" dirty="0"/>
          </a:p>
        </p:txBody>
      </p:sp>
      <p:pic>
        <p:nvPicPr>
          <p:cNvPr id="65" name="아이콘 LuChartColum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11696" y="4918964"/>
            <a:ext cx="201168" cy="201168"/>
          </a:xfrm>
          <a:prstGeom prst="rect">
            <a:avLst/>
          </a:prstGeom>
        </p:spPr>
      </p:pic>
      <p:sp>
        <p:nvSpPr>
          <p:cNvPr id="66" name="일일 알람 리포트"/>
          <p:cNvSpPr/>
          <p:nvPr/>
        </p:nvSpPr>
        <p:spPr>
          <a:xfrm>
            <a:off x="9052560" y="4846320"/>
            <a:ext cx="26791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419100" tIns="63500" rIns="1016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일일 알람 리포트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메일 · 매일 아침 · 28개 사이트</a:t>
            </a:r>
            <a:endParaRPr lang="en-US" sz="1200" dirty="0"/>
          </a:p>
        </p:txBody>
      </p:sp>
      <p:pic>
        <p:nvPicPr>
          <p:cNvPr id="67" name="아이콘 LuMail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0576" y="4918964"/>
            <a:ext cx="201168" cy="201168"/>
          </a:xfrm>
          <a:prstGeom prst="rect">
            <a:avLst/>
          </a:prstGeom>
        </p:spPr>
      </p:pic>
      <p:sp>
        <p:nvSpPr>
          <p:cNvPr id="68" name="연결선"/>
          <p:cNvSpPr/>
          <p:nvPr/>
        </p:nvSpPr>
        <p:spPr>
          <a:xfrm>
            <a:off x="8732520" y="5129784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9" name="연결선"/>
          <p:cNvSpPr/>
          <p:nvPr/>
        </p:nvSpPr>
        <p:spPr>
          <a:xfrm flipV="1">
            <a:off x="10387584" y="4590288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0" name="대상 시스템 띠"/>
          <p:cNvSpPr/>
          <p:nvPr/>
        </p:nvSpPr>
        <p:spPr>
          <a:xfrm>
            <a:off x="457200" y="5596128"/>
            <a:ext cx="11274552" cy="82296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71" name="Text 55"/>
          <p:cNvSpPr txBox="1"/>
          <p:nvPr/>
        </p:nvSpPr>
        <p:spPr>
          <a:xfrm>
            <a:off x="640080" y="5669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대상 시스템</a:t>
            </a:r>
            <a:endParaRPr lang="en-US" sz="1400" dirty="0"/>
          </a:p>
        </p:txBody>
      </p:sp>
      <p:sp>
        <p:nvSpPr>
          <p:cNvPr id="72" name="Text 56"/>
          <p:cNvSpPr txBox="1"/>
          <p:nvPr/>
        </p:nvSpPr>
        <p:spPr>
          <a:xfrm>
            <a:off x="640080" y="5961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디지털 트윈 · 28개 사이트</a:t>
            </a:r>
            <a:endParaRPr lang="en-US" sz="1000" dirty="0"/>
          </a:p>
        </p:txBody>
      </p:sp>
      <p:sp>
        <p:nvSpPr>
          <p:cNvPr id="73" name="대상 설비 데이터"/>
          <p:cNvSpPr/>
          <p:nvPr/>
        </p:nvSpPr>
        <p:spPr>
          <a:xfrm>
            <a:off x="2926080" y="5687568"/>
            <a:ext cx="101473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설비 데이터</a:t>
            </a:r>
            <a:endParaRPr lang="en-US" sz="1100" dirty="0"/>
          </a:p>
        </p:txBody>
      </p:sp>
      <p:sp>
        <p:nvSpPr>
          <p:cNvPr id="74" name="연결선"/>
          <p:cNvSpPr/>
          <p:nvPr/>
        </p:nvSpPr>
        <p:spPr>
          <a:xfrm>
            <a:off x="3986530" y="5833872"/>
            <a:ext cx="1828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5" name="대상 Kafka"/>
          <p:cNvSpPr/>
          <p:nvPr/>
        </p:nvSpPr>
        <p:spPr>
          <a:xfrm>
            <a:off x="4215130" y="5687568"/>
            <a:ext cx="67665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Kafka</a:t>
            </a:r>
            <a:endParaRPr lang="en-US" sz="1100" dirty="0"/>
          </a:p>
        </p:txBody>
      </p:sp>
      <p:sp>
        <p:nvSpPr>
          <p:cNvPr id="76" name="연결선"/>
          <p:cNvSpPr/>
          <p:nvPr/>
        </p:nvSpPr>
        <p:spPr>
          <a:xfrm>
            <a:off x="4937506" y="5833872"/>
            <a:ext cx="1828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7" name="대상 처리 서비스"/>
          <p:cNvSpPr/>
          <p:nvPr/>
        </p:nvSpPr>
        <p:spPr>
          <a:xfrm>
            <a:off x="5166106" y="5687568"/>
            <a:ext cx="101473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처리 서비스</a:t>
            </a:r>
            <a:endParaRPr lang="en-US" sz="1100" dirty="0"/>
          </a:p>
        </p:txBody>
      </p:sp>
      <p:sp>
        <p:nvSpPr>
          <p:cNvPr id="78" name="연결선"/>
          <p:cNvSpPr/>
          <p:nvPr/>
        </p:nvSpPr>
        <p:spPr>
          <a:xfrm>
            <a:off x="6226556" y="5833872"/>
            <a:ext cx="1828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9" name="대상 Redis · MongoDB"/>
          <p:cNvSpPr/>
          <p:nvPr/>
        </p:nvSpPr>
        <p:spPr>
          <a:xfrm>
            <a:off x="6455156" y="5687568"/>
            <a:ext cx="14184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Redis · MongoDB</a:t>
            </a:r>
            <a:endParaRPr lang="en-US" sz="1100" dirty="0"/>
          </a:p>
        </p:txBody>
      </p:sp>
      <p:sp>
        <p:nvSpPr>
          <p:cNvPr id="80" name="연결선"/>
          <p:cNvSpPr/>
          <p:nvPr/>
        </p:nvSpPr>
        <p:spPr>
          <a:xfrm>
            <a:off x="7919339" y="5833872"/>
            <a:ext cx="1828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1" name="대상 REST API"/>
          <p:cNvSpPr/>
          <p:nvPr/>
        </p:nvSpPr>
        <p:spPr>
          <a:xfrm>
            <a:off x="8147939" y="5687568"/>
            <a:ext cx="942086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REST API</a:t>
            </a:r>
            <a:endParaRPr lang="en-US" sz="1100" dirty="0"/>
          </a:p>
        </p:txBody>
      </p:sp>
      <p:sp>
        <p:nvSpPr>
          <p:cNvPr id="82" name="연결선"/>
          <p:cNvSpPr/>
          <p:nvPr/>
        </p:nvSpPr>
        <p:spPr>
          <a:xfrm>
            <a:off x="9135745" y="5833872"/>
            <a:ext cx="1828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3" name="대상 운영 화면"/>
          <p:cNvSpPr/>
          <p:nvPr/>
        </p:nvSpPr>
        <p:spPr>
          <a:xfrm>
            <a:off x="9364345" y="5687568"/>
            <a:ext cx="87503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운영 화면</a:t>
            </a:r>
            <a:endParaRPr lang="en-US" sz="1100" dirty="0"/>
          </a:p>
        </p:txBody>
      </p:sp>
      <p:pic>
        <p:nvPicPr>
          <p:cNvPr id="84" name="아이콘 LuLock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26080" y="6089904"/>
            <a:ext cx="164592" cy="164592"/>
          </a:xfrm>
          <a:prstGeom prst="rect">
            <a:avLst/>
          </a:prstGeom>
        </p:spPr>
      </p:pic>
      <p:sp>
        <p:nvSpPr>
          <p:cNvPr id="85" name="Text 68"/>
          <p:cNvSpPr txBox="1"/>
          <p:nvPr/>
        </p:nvSpPr>
        <p:spPr>
          <a:xfrm>
            <a:off x="3154680" y="60807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모든 연결은 읽기 전용 — 대상 시스템을 바꾸는 기능 자체가 없습니다</a:t>
            </a:r>
            <a:endParaRPr lang="en-US" sz="1000" dirty="0"/>
          </a:p>
        </p:txBody>
      </p:sp>
      <p:sp>
        <p:nvSpPr>
          <p:cNvPr id="86" name="연결선"/>
          <p:cNvSpPr/>
          <p:nvPr/>
        </p:nvSpPr>
        <p:spPr>
          <a:xfrm flipV="1">
            <a:off x="1531620" y="4590288"/>
            <a:ext cx="0" cy="987552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7" name="이름표 읽기만"/>
          <p:cNvSpPr/>
          <p:nvPr/>
        </p:nvSpPr>
        <p:spPr>
          <a:xfrm>
            <a:off x="1060577" y="4963414"/>
            <a:ext cx="942086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 wrap="square" lIns="317500" tIns="0" rIns="1143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읽기만</a:t>
            </a:r>
            <a:endParaRPr lang="en-US" sz="1000" dirty="0"/>
          </a:p>
        </p:txBody>
      </p:sp>
      <p:pic>
        <p:nvPicPr>
          <p:cNvPr id="88" name="아이콘 LuLock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70305" y="5005324"/>
            <a:ext cx="158750" cy="158750"/>
          </a:xfrm>
          <a:prstGeom prst="rect">
            <a:avLst/>
          </a:prstGeom>
        </p:spPr>
      </p:pic>
      <p:sp>
        <p:nvSpPr>
          <p:cNvPr id="89" name="연결선"/>
          <p:cNvSpPr/>
          <p:nvPr/>
        </p:nvSpPr>
        <p:spPr>
          <a:xfrm flipV="1">
            <a:off x="4480560" y="4517136"/>
            <a:ext cx="0" cy="1060704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90" name="이름표 읽기만"/>
          <p:cNvSpPr/>
          <p:nvPr/>
        </p:nvSpPr>
        <p:spPr>
          <a:xfrm>
            <a:off x="4009517" y="5018278"/>
            <a:ext cx="942086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 wrap="square" lIns="317500" tIns="0" rIns="1143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읽기만</a:t>
            </a:r>
            <a:endParaRPr lang="en-US" sz="1000" dirty="0"/>
          </a:p>
        </p:txBody>
      </p:sp>
      <p:pic>
        <p:nvPicPr>
          <p:cNvPr id="91" name="아이콘 LuLock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9245" y="5060188"/>
            <a:ext cx="158750" cy="158750"/>
          </a:xfrm>
          <a:prstGeom prst="rect">
            <a:avLst/>
          </a:prstGeom>
        </p:spPr>
      </p:pic>
      <p:sp>
        <p:nvSpPr>
          <p:cNvPr id="92" name="연결선"/>
          <p:cNvSpPr/>
          <p:nvPr/>
        </p:nvSpPr>
        <p:spPr>
          <a:xfrm flipV="1">
            <a:off x="7635240" y="5431536"/>
            <a:ext cx="0" cy="146304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AI는 울타리 안에서 판단하고, 한계는 규칙이 정한다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무엇이 맞는 판단인가는 AI가, 재현·상한·감사가 필요한 것은 규칙이 쥔다</a:t>
            </a:r>
            <a:endParaRPr lang="en-US" sz="1400" dirty="0"/>
          </a:p>
        </p:txBody>
      </p:sp>
      <p:sp>
        <p:nvSpPr>
          <p:cNvPr id="4" name="규칙 울타리"/>
          <p:cNvSpPr/>
          <p:nvPr/>
        </p:nvSpPr>
        <p:spPr>
          <a:xfrm>
            <a:off x="457200" y="1508760"/>
            <a:ext cx="6263640" cy="4846320"/>
          </a:xfrm>
          <a:prstGeom prst="roundRect">
            <a:avLst>
              <a:gd name="adj" fmla="val 3774"/>
            </a:avLst>
          </a:prstGeom>
          <a:solidFill>
            <a:srgbClr val="FCFDFE"/>
          </a:solidFill>
          <a:ln w="25400">
            <a:solidFill>
              <a:srgbClr val="475569"/>
            </a:solidFill>
            <a:prstDash val="dash"/>
          </a:ln>
        </p:spPr>
      </p:sp>
      <p:sp>
        <p:nvSpPr>
          <p:cNvPr id="5" name="이름표 규칙 울타리"/>
          <p:cNvSpPr/>
          <p:nvPr/>
        </p:nvSpPr>
        <p:spPr>
          <a:xfrm>
            <a:off x="645630" y="1376045"/>
            <a:ext cx="1360500" cy="26543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 wrap="square" lIns="330200" tIns="0" rIns="1143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규칙 울타리</a:t>
            </a:r>
            <a:endParaRPr lang="en-US" sz="1100" dirty="0"/>
          </a:p>
        </p:txBody>
      </p:sp>
      <p:pic>
        <p:nvPicPr>
          <p:cNvPr id="6" name="아이콘 Lu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358" y="1422146"/>
            <a:ext cx="174625" cy="174625"/>
          </a:xfrm>
          <a:prstGeom prst="rect">
            <a:avLst/>
          </a:prstGeom>
        </p:spPr>
      </p:pic>
      <p:sp>
        <p:nvSpPr>
          <p:cNvPr id="7" name="이름표 반복은 최대 6라운드"/>
          <p:cNvSpPr/>
          <p:nvPr/>
        </p:nvSpPr>
        <p:spPr>
          <a:xfrm>
            <a:off x="2367808" y="1376045"/>
            <a:ext cx="1756623" cy="2654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반복은 최대 6라운드</a:t>
            </a:r>
            <a:endParaRPr lang="en-US" sz="1100" dirty="0"/>
          </a:p>
        </p:txBody>
      </p:sp>
      <p:sp>
        <p:nvSpPr>
          <p:cNvPr id="8" name="이름표 한 번에 최대 3개 조회"/>
          <p:cNvSpPr/>
          <p:nvPr/>
        </p:nvSpPr>
        <p:spPr>
          <a:xfrm>
            <a:off x="4332549" y="1376045"/>
            <a:ext cx="1850502" cy="2654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한 번에 최대 3개 조회</a:t>
            </a:r>
            <a:endParaRPr lang="en-US" sz="1100" dirty="0"/>
          </a:p>
        </p:txBody>
      </p:sp>
      <p:sp>
        <p:nvSpPr>
          <p:cNvPr id="9" name="이름표 허용된 조회 목록만"/>
          <p:cNvSpPr/>
          <p:nvPr/>
        </p:nvSpPr>
        <p:spPr>
          <a:xfrm>
            <a:off x="1549197" y="6222365"/>
            <a:ext cx="1656486" cy="2654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허용된 조회 목록만</a:t>
            </a:r>
            <a:endParaRPr lang="en-US" sz="1100" dirty="0"/>
          </a:p>
        </p:txBody>
      </p:sp>
      <p:sp>
        <p:nvSpPr>
          <p:cNvPr id="10" name="이름표 대상 시스템 쓰기 불가"/>
          <p:cNvSpPr/>
          <p:nvPr/>
        </p:nvSpPr>
        <p:spPr>
          <a:xfrm>
            <a:off x="3669043" y="6222365"/>
            <a:ext cx="2080235" cy="2654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 wrap="square" lIns="330200" tIns="0" rIns="1143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대상 시스템 쓰기 불가</a:t>
            </a:r>
            <a:endParaRPr lang="en-US" sz="1100" dirty="0"/>
          </a:p>
        </p:txBody>
      </p:sp>
      <p:pic>
        <p:nvPicPr>
          <p:cNvPr id="11" name="아이콘 Lu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71" y="6268466"/>
            <a:ext cx="174625" cy="174625"/>
          </a:xfrm>
          <a:prstGeom prst="rect">
            <a:avLst/>
          </a:prstGeom>
        </p:spPr>
      </p:pic>
      <p:sp>
        <p:nvSpPr>
          <p:cNvPr id="12" name="순환 원"/>
          <p:cNvSpPr/>
          <p:nvPr/>
        </p:nvSpPr>
        <p:spPr>
          <a:xfrm>
            <a:off x="1920240" y="2468880"/>
            <a:ext cx="3017520" cy="30175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순환 방향"/>
          <p:cNvSpPr/>
          <p:nvPr/>
        </p:nvSpPr>
        <p:spPr>
          <a:xfrm rot="8100000">
            <a:off x="4404414" y="2819346"/>
            <a:ext cx="18288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14" name="순환 방향"/>
          <p:cNvSpPr/>
          <p:nvPr/>
        </p:nvSpPr>
        <p:spPr>
          <a:xfrm rot="13500000">
            <a:off x="4404414" y="4953054"/>
            <a:ext cx="18288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15" name="순환 방향"/>
          <p:cNvSpPr/>
          <p:nvPr/>
        </p:nvSpPr>
        <p:spPr>
          <a:xfrm rot="18900000">
            <a:off x="2270706" y="4953054"/>
            <a:ext cx="18288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16" name="순환 방향"/>
          <p:cNvSpPr/>
          <p:nvPr/>
        </p:nvSpPr>
        <p:spPr>
          <a:xfrm rot="2700000">
            <a:off x="2270706" y="2819346"/>
            <a:ext cx="18288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17" name="가설 세우기 · 갱신"/>
          <p:cNvSpPr/>
          <p:nvPr/>
        </p:nvSpPr>
        <p:spPr>
          <a:xfrm>
            <a:off x="2560320" y="213969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22225">
            <a:solidFill>
              <a:srgbClr val="2563EB"/>
            </a:solidFill>
            <a:prstDash val="solid"/>
          </a:ln>
        </p:spPr>
        <p:txBody>
          <a:bodyPr wrap="square" lIns="127000" tIns="76200" rIns="762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가설 세우기 · 갱신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결과를 읽고 다음을 판단</a:t>
            </a:r>
            <a:endParaRPr lang="en-US" sz="1200" dirty="0"/>
          </a:p>
        </p:txBody>
      </p:sp>
      <p:sp>
        <p:nvSpPr>
          <p:cNvPr id="18" name="다음에 볼 것 정하기"/>
          <p:cNvSpPr/>
          <p:nvPr/>
        </p:nvSpPr>
        <p:spPr>
          <a:xfrm>
            <a:off x="4069080" y="364845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22225">
            <a:solidFill>
              <a:srgbClr val="2563EB"/>
            </a:solidFill>
            <a:prstDash val="solid"/>
          </a:ln>
        </p:spPr>
        <p:txBody>
          <a:bodyPr wrap="square" lIns="127000" tIns="76200" rIns="762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다음에 볼 것 정하기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허용 목록 안에서 고른다</a:t>
            </a:r>
            <a:endParaRPr lang="en-US" sz="1200" dirty="0"/>
          </a:p>
        </p:txBody>
      </p:sp>
      <p:sp>
        <p:nvSpPr>
          <p:cNvPr id="19" name="조회·추적·재계산"/>
          <p:cNvSpPr/>
          <p:nvPr/>
        </p:nvSpPr>
        <p:spPr>
          <a:xfrm>
            <a:off x="2560320" y="515721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 wrap="square" lIns="127000" tIns="76200" rIns="762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조회·추적·재계산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고른 것을 코드가 실행</a:t>
            </a:r>
            <a:endParaRPr lang="en-US" sz="1200" dirty="0"/>
          </a:p>
        </p:txBody>
      </p:sp>
      <p:sp>
        <p:nvSpPr>
          <p:cNvPr id="20" name="증거로 기록"/>
          <p:cNvSpPr/>
          <p:nvPr/>
        </p:nvSpPr>
        <p:spPr>
          <a:xfrm>
            <a:off x="1051560" y="364845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 wrap="square" lIns="127000" tIns="76200" rIns="762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증거로 기록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사건 파일에 번호를 붙여</a:t>
            </a:r>
            <a:endParaRPr lang="en-US" sz="1200" dirty="0"/>
          </a:p>
        </p:txBody>
      </p:sp>
      <p:pic>
        <p:nvPicPr>
          <p:cNvPr id="21" name="아이콘 LuRefreshC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41071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2834640" y="38679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 라운드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2834640" y="4197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최대 6회 반복</a:t>
            </a:r>
            <a:endParaRPr lang="en-US" sz="1100" dirty="0"/>
          </a:p>
        </p:txBody>
      </p:sp>
      <p:sp>
        <p:nvSpPr>
          <p:cNvPr id="24" name="사건 접수"/>
          <p:cNvSpPr/>
          <p:nvPr/>
        </p:nvSpPr>
        <p:spPr>
          <a:xfrm>
            <a:off x="777240" y="18745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사건 접수</a:t>
            </a:r>
            <a:endParaRPr lang="en-US" sz="1200" dirty="0"/>
          </a:p>
        </p:txBody>
      </p:sp>
      <p:sp>
        <p:nvSpPr>
          <p:cNvPr id="25" name="연결선"/>
          <p:cNvSpPr/>
          <p:nvPr/>
        </p:nvSpPr>
        <p:spPr>
          <a:xfrm>
            <a:off x="1371600" y="2221992"/>
            <a:ext cx="0" cy="24688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연결선"/>
          <p:cNvSpPr/>
          <p:nvPr/>
        </p:nvSpPr>
        <p:spPr>
          <a:xfrm>
            <a:off x="1371600" y="2468880"/>
            <a:ext cx="11704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출구"/>
          <p:cNvSpPr/>
          <p:nvPr/>
        </p:nvSpPr>
        <p:spPr>
          <a:xfrm>
            <a:off x="4846320" y="2185416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  <p:txBody>
          <a:bodyPr wrap="square" lIns="127000" tIns="63500" rIns="762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결론 → 근거 검증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통과해야 보고서가 된다</a:t>
            </a:r>
            <a:endParaRPr lang="en-US" sz="1200" dirty="0"/>
          </a:p>
        </p:txBody>
      </p:sp>
      <p:sp>
        <p:nvSpPr>
          <p:cNvPr id="28" name="연결선"/>
          <p:cNvSpPr/>
          <p:nvPr/>
        </p:nvSpPr>
        <p:spPr>
          <a:xfrm>
            <a:off x="4297680" y="2468880"/>
            <a:ext cx="5303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상한 메모"/>
          <p:cNvSpPr/>
          <p:nvPr/>
        </p:nvSpPr>
        <p:spPr>
          <a:xfrm>
            <a:off x="4617720" y="54406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101600" tIns="63500" rIns="762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6라운드에 닿으면 규칙이 마무리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근거가 모자라면 ‘미확정’ — 억지 결론은 없다</a:t>
            </a:r>
            <a:endParaRPr lang="en-US" sz="1200" dirty="0"/>
          </a:p>
        </p:txBody>
      </p:sp>
      <p:sp>
        <p:nvSpPr>
          <p:cNvPr id="30" name="AI가 정한다 틀"/>
          <p:cNvSpPr/>
          <p:nvPr/>
        </p:nvSpPr>
        <p:spPr>
          <a:xfrm>
            <a:off x="6995160" y="1508760"/>
            <a:ext cx="473659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AI가 정한다 머리"/>
          <p:cNvSpPr/>
          <p:nvPr/>
        </p:nvSpPr>
        <p:spPr>
          <a:xfrm>
            <a:off x="7004304" y="1517904"/>
            <a:ext cx="4718304" cy="475488"/>
          </a:xfrm>
          <a:prstGeom prst="roundRect">
            <a:avLst>
              <a:gd name="adj" fmla="val 21154"/>
            </a:avLst>
          </a:prstGeom>
          <a:solidFill>
            <a:srgbClr val="EFF6FF"/>
          </a:solidFill>
          <a:ln/>
        </p:spPr>
      </p:sp>
      <p:pic>
        <p:nvPicPr>
          <p:cNvPr id="32" name="아이콘 LuSparkle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18488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516368" y="16002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AI가 정한다</a:t>
            </a:r>
            <a:endParaRPr lang="en-US" sz="1600" dirty="0"/>
          </a:p>
        </p:txBody>
      </p:sp>
      <p:sp>
        <p:nvSpPr>
          <p:cNvPr id="34" name="점"/>
          <p:cNvSpPr/>
          <p:nvPr/>
        </p:nvSpPr>
        <p:spPr>
          <a:xfrm>
            <a:off x="7242048" y="2221992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406640" y="2130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어떤 가설을 세울지</a:t>
            </a:r>
            <a:endParaRPr lang="en-US" sz="1300" dirty="0"/>
          </a:p>
        </p:txBody>
      </p:sp>
      <p:sp>
        <p:nvSpPr>
          <p:cNvPr id="36" name="점"/>
          <p:cNvSpPr/>
          <p:nvPr/>
        </p:nvSpPr>
        <p:spPr>
          <a:xfrm>
            <a:off x="7242048" y="2514600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7406640" y="2423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다음에 무엇을 볼지</a:t>
            </a:r>
            <a:endParaRPr lang="en-US" sz="1300" dirty="0"/>
          </a:p>
        </p:txBody>
      </p:sp>
      <p:sp>
        <p:nvSpPr>
          <p:cNvPr id="38" name="점"/>
          <p:cNvSpPr/>
          <p:nvPr/>
        </p:nvSpPr>
        <p:spPr>
          <a:xfrm>
            <a:off x="7242048" y="2807208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406640" y="2715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언제 결론을 낼지</a:t>
            </a:r>
            <a:endParaRPr lang="en-US" sz="1300" dirty="0"/>
          </a:p>
        </p:txBody>
      </p:sp>
      <p:sp>
        <p:nvSpPr>
          <p:cNvPr id="40" name="점"/>
          <p:cNvSpPr/>
          <p:nvPr/>
        </p:nvSpPr>
        <p:spPr>
          <a:xfrm>
            <a:off x="7242048" y="3099816"/>
            <a:ext cx="64008" cy="640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406640" y="30083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판정을 어떻게 서술할지</a:t>
            </a:r>
            <a:endParaRPr lang="en-US" sz="1300" dirty="0"/>
          </a:p>
        </p:txBody>
      </p:sp>
      <p:sp>
        <p:nvSpPr>
          <p:cNvPr id="42" name="규칙이 정한다 틀"/>
          <p:cNvSpPr/>
          <p:nvPr/>
        </p:nvSpPr>
        <p:spPr>
          <a:xfrm>
            <a:off x="6995160" y="3474720"/>
            <a:ext cx="4736592" cy="2075688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43" name="규칙이 정한다 머리"/>
          <p:cNvSpPr/>
          <p:nvPr/>
        </p:nvSpPr>
        <p:spPr>
          <a:xfrm>
            <a:off x="7004304" y="3483864"/>
            <a:ext cx="4718304" cy="475488"/>
          </a:xfrm>
          <a:prstGeom prst="roundRect">
            <a:avLst>
              <a:gd name="adj" fmla="val 21154"/>
            </a:avLst>
          </a:prstGeom>
          <a:solidFill>
            <a:srgbClr val="F1F5F9"/>
          </a:solidFill>
          <a:ln/>
        </p:spPr>
      </p:sp>
      <p:pic>
        <p:nvPicPr>
          <p:cNvPr id="44" name="아이콘 LuLo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584448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7516368" y="35661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규칙이 정한다</a:t>
            </a:r>
            <a:endParaRPr lang="en-US" sz="1600" dirty="0"/>
          </a:p>
        </p:txBody>
      </p:sp>
      <p:sp>
        <p:nvSpPr>
          <p:cNvPr id="46" name="점"/>
          <p:cNvSpPr/>
          <p:nvPr/>
        </p:nvSpPr>
        <p:spPr>
          <a:xfrm>
            <a:off x="7242048" y="4187952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7406640" y="4096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몇 번까지 반복할지</a:t>
            </a:r>
            <a:endParaRPr lang="en-US" sz="1300" dirty="0"/>
          </a:p>
        </p:txBody>
      </p:sp>
      <p:sp>
        <p:nvSpPr>
          <p:cNvPr id="48" name="Text 41"/>
          <p:cNvSpPr txBox="1"/>
          <p:nvPr/>
        </p:nvSpPr>
        <p:spPr>
          <a:xfrm>
            <a:off x="9966960" y="4096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최대 6라운드</a:t>
            </a:r>
            <a:endParaRPr lang="en-US" sz="1200" dirty="0"/>
          </a:p>
        </p:txBody>
      </p:sp>
      <p:sp>
        <p:nvSpPr>
          <p:cNvPr id="49" name="점"/>
          <p:cNvSpPr/>
          <p:nvPr/>
        </p:nvSpPr>
        <p:spPr>
          <a:xfrm>
            <a:off x="7242048" y="4480560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7406640" y="4389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한 번에 몇 개를 조회할지</a:t>
            </a:r>
            <a:endParaRPr lang="en-US" sz="1300" dirty="0"/>
          </a:p>
        </p:txBody>
      </p:sp>
      <p:sp>
        <p:nvSpPr>
          <p:cNvPr id="51" name="Text 44"/>
          <p:cNvSpPr txBox="1"/>
          <p:nvPr/>
        </p:nvSpPr>
        <p:spPr>
          <a:xfrm>
            <a:off x="9966960" y="4389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최대 3개</a:t>
            </a:r>
            <a:endParaRPr lang="en-US" sz="1200" dirty="0"/>
          </a:p>
        </p:txBody>
      </p:sp>
      <p:sp>
        <p:nvSpPr>
          <p:cNvPr id="52" name="점"/>
          <p:cNvSpPr/>
          <p:nvPr/>
        </p:nvSpPr>
        <p:spPr>
          <a:xfrm>
            <a:off x="7242048" y="4773168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7406640" y="4681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무엇을 조회할 수 있는지</a:t>
            </a:r>
            <a:endParaRPr lang="en-US" sz="1300" dirty="0"/>
          </a:p>
        </p:txBody>
      </p:sp>
      <p:sp>
        <p:nvSpPr>
          <p:cNvPr id="54" name="Text 47"/>
          <p:cNvSpPr txBox="1"/>
          <p:nvPr/>
        </p:nvSpPr>
        <p:spPr>
          <a:xfrm>
            <a:off x="996696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허용 목록</a:t>
            </a:r>
            <a:endParaRPr lang="en-US" sz="1200" dirty="0"/>
          </a:p>
        </p:txBody>
      </p:sp>
      <p:sp>
        <p:nvSpPr>
          <p:cNvPr id="55" name="점"/>
          <p:cNvSpPr/>
          <p:nvPr/>
        </p:nvSpPr>
        <p:spPr>
          <a:xfrm>
            <a:off x="7242048" y="5065776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7406640" y="4974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결론이 근거를 갖췄는지</a:t>
            </a:r>
            <a:endParaRPr lang="en-US" sz="1300" dirty="0"/>
          </a:p>
        </p:txBody>
      </p:sp>
      <p:sp>
        <p:nvSpPr>
          <p:cNvPr id="57" name="Text 50"/>
          <p:cNvSpPr txBox="1"/>
          <p:nvPr/>
        </p:nvSpPr>
        <p:spPr>
          <a:xfrm>
            <a:off x="9966960" y="49743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근거 검증</a:t>
            </a:r>
            <a:endParaRPr lang="en-US" sz="1200" dirty="0"/>
          </a:p>
        </p:txBody>
      </p:sp>
      <p:sp>
        <p:nvSpPr>
          <p:cNvPr id="58" name="점"/>
          <p:cNvSpPr/>
          <p:nvPr/>
        </p:nvSpPr>
        <p:spPr>
          <a:xfrm>
            <a:off x="7242048" y="5358384"/>
            <a:ext cx="64008" cy="640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59" name="Text 52"/>
          <p:cNvSpPr txBox="1"/>
          <p:nvPr/>
        </p:nvSpPr>
        <p:spPr>
          <a:xfrm>
            <a:off x="7406640" y="5266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보고서를 누가 받는지</a:t>
            </a:r>
            <a:endParaRPr lang="en-US" sz="1300" dirty="0"/>
          </a:p>
        </p:txBody>
      </p:sp>
      <p:sp>
        <p:nvSpPr>
          <p:cNvPr id="60" name="Text 53"/>
          <p:cNvSpPr txBox="1"/>
          <p:nvPr/>
        </p:nvSpPr>
        <p:spPr>
          <a:xfrm>
            <a:off x="9966960" y="5266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수신자 고정</a:t>
            </a:r>
            <a:endParaRPr lang="en-US" sz="1200" dirty="0"/>
          </a:p>
        </p:txBody>
      </p:sp>
      <p:sp>
        <p:nvSpPr>
          <p:cNvPr id="61" name="나누는 기준"/>
          <p:cNvSpPr/>
          <p:nvPr/>
        </p:nvSpPr>
        <p:spPr>
          <a:xfrm>
            <a:off x="6995160" y="5715000"/>
            <a:ext cx="4736592" cy="640080"/>
          </a:xfrm>
          <a:prstGeom prst="roundRect">
            <a:avLst>
              <a:gd name="adj" fmla="val 17143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  <p:txBody>
          <a:bodyPr wrap="square" lIns="203200" tIns="50800" rIns="1270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재현·상한·감사가 필요한 것은 규칙이,</a:t>
            </a:r>
            <a:endParaRPr lang="en-US" sz="12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무엇이 맞는 판단인가는 AI가 맡는다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사건 하나가 처리되는 과정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사례 — 생산 중인 라인의 알람 현황이 0/0/0으로 표시됨</a:t>
            </a:r>
            <a:endParaRPr lang="en-US" sz="1400" dirty="0"/>
          </a:p>
        </p:txBody>
      </p:sp>
      <p:sp>
        <p:nvSpPr>
          <p:cNvPr id="4" name="증거 번호 예"/>
          <p:cNvSpPr/>
          <p:nvPr/>
        </p:nvSpPr>
        <p:spPr>
          <a:xfrm>
            <a:off x="9098280" y="89611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491472" y="9052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= 사건 파일에 저장된 증거 번호</a:t>
            </a:r>
            <a:endParaRPr lang="en-US" sz="1000" dirty="0"/>
          </a:p>
        </p:txBody>
      </p:sp>
      <p:sp>
        <p:nvSpPr>
          <p:cNvPr id="6" name="단계 번호 1"/>
          <p:cNvSpPr/>
          <p:nvPr/>
        </p:nvSpPr>
        <p:spPr>
          <a:xfrm>
            <a:off x="1865376" y="137160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76272" y="1399032"/>
            <a:ext cx="12694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탐지 · 개설</a:t>
            </a:r>
            <a:endParaRPr lang="en-US" sz="1100" dirty="0"/>
          </a:p>
        </p:txBody>
      </p:sp>
      <p:sp>
        <p:nvSpPr>
          <p:cNvPr id="8" name="단계 번호 2"/>
          <p:cNvSpPr/>
          <p:nvPr/>
        </p:nvSpPr>
        <p:spPr>
          <a:xfrm>
            <a:off x="3518916" y="137160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29812" y="1399032"/>
            <a:ext cx="12694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가설 수립</a:t>
            </a:r>
            <a:endParaRPr lang="en-US" sz="1100" dirty="0"/>
          </a:p>
        </p:txBody>
      </p:sp>
      <p:sp>
        <p:nvSpPr>
          <p:cNvPr id="10" name="단계 번호 3"/>
          <p:cNvSpPr/>
          <p:nvPr/>
        </p:nvSpPr>
        <p:spPr>
          <a:xfrm>
            <a:off x="5172456" y="137160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3352" y="1399032"/>
            <a:ext cx="12694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1차 조사</a:t>
            </a:r>
            <a:endParaRPr lang="en-US" sz="1100" dirty="0"/>
          </a:p>
        </p:txBody>
      </p:sp>
      <p:sp>
        <p:nvSpPr>
          <p:cNvPr id="12" name="단계 번호 4"/>
          <p:cNvSpPr/>
          <p:nvPr/>
        </p:nvSpPr>
        <p:spPr>
          <a:xfrm>
            <a:off x="6825996" y="137160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6892" y="1399032"/>
            <a:ext cx="12694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2차 조사 · 결론</a:t>
            </a:r>
            <a:endParaRPr lang="en-US" sz="1100" dirty="0"/>
          </a:p>
        </p:txBody>
      </p:sp>
      <p:sp>
        <p:nvSpPr>
          <p:cNvPr id="14" name="단계 번호 5"/>
          <p:cNvSpPr/>
          <p:nvPr/>
        </p:nvSpPr>
        <p:spPr>
          <a:xfrm>
            <a:off x="8479536" y="137160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790432" y="1399032"/>
            <a:ext cx="12694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근거 검증</a:t>
            </a:r>
            <a:endParaRPr lang="en-US" sz="1100" dirty="0"/>
          </a:p>
        </p:txBody>
      </p:sp>
      <p:sp>
        <p:nvSpPr>
          <p:cNvPr id="16" name="단계 번호 6"/>
          <p:cNvSpPr/>
          <p:nvPr/>
        </p:nvSpPr>
        <p:spPr>
          <a:xfrm>
            <a:off x="10133076" y="1371600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443972" y="1399032"/>
            <a:ext cx="12694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보고 · 조치</a:t>
            </a:r>
            <a:endParaRPr lang="en-US" sz="1100" dirty="0"/>
          </a:p>
        </p:txBody>
      </p:sp>
      <p:sp>
        <p:nvSpPr>
          <p:cNvPr id="18" name="레인 자동 순찰"/>
          <p:cNvSpPr/>
          <p:nvPr/>
        </p:nvSpPr>
        <p:spPr>
          <a:xfrm>
            <a:off x="1755648" y="1783080"/>
            <a:ext cx="9976104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레인 이름 자동 순찰"/>
          <p:cNvSpPr/>
          <p:nvPr/>
        </p:nvSpPr>
        <p:spPr>
          <a:xfrm>
            <a:off x="457200" y="182880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82600" tIns="0" rIns="508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자동 순찰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규칙</a:t>
            </a:r>
            <a:endParaRPr lang="en-US" sz="1200" dirty="0"/>
          </a:p>
        </p:txBody>
      </p:sp>
      <p:pic>
        <p:nvPicPr>
          <p:cNvPr id="20" name="아이콘 LuRad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39112"/>
            <a:ext cx="219456" cy="219456"/>
          </a:xfrm>
          <a:prstGeom prst="rect">
            <a:avLst/>
          </a:prstGeom>
        </p:spPr>
      </p:pic>
      <p:sp>
        <p:nvSpPr>
          <p:cNvPr id="21" name="레인 AI 조사 책임자"/>
          <p:cNvSpPr/>
          <p:nvPr/>
        </p:nvSpPr>
        <p:spPr>
          <a:xfrm>
            <a:off x="1755648" y="2514600"/>
            <a:ext cx="9976104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레인 이름 AI 조사 책임자"/>
          <p:cNvSpPr/>
          <p:nvPr/>
        </p:nvSpPr>
        <p:spPr>
          <a:xfrm>
            <a:off x="457200" y="25603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482600" tIns="0" rIns="508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AI 조사 책임자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</a:t>
            </a:r>
            <a:endParaRPr lang="en-US" sz="1200" dirty="0"/>
          </a:p>
        </p:txBody>
      </p:sp>
      <p:pic>
        <p:nvPicPr>
          <p:cNvPr id="23" name="아이콘 LuSparkl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76372"/>
            <a:ext cx="219456" cy="219456"/>
          </a:xfrm>
          <a:prstGeom prst="rect">
            <a:avLst/>
          </a:prstGeom>
        </p:spPr>
      </p:pic>
      <p:sp>
        <p:nvSpPr>
          <p:cNvPr id="24" name="레인 조사 도구"/>
          <p:cNvSpPr/>
          <p:nvPr/>
        </p:nvSpPr>
        <p:spPr>
          <a:xfrm>
            <a:off x="1755648" y="3657600"/>
            <a:ext cx="9976104" cy="1325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레인 이름 조사 도구"/>
          <p:cNvSpPr/>
          <p:nvPr/>
        </p:nvSpPr>
        <p:spPr>
          <a:xfrm>
            <a:off x="457200" y="37033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82600" tIns="0" rIns="508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조사 도구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허용된 조회만</a:t>
            </a:r>
            <a:endParaRPr lang="en-US" sz="1200" dirty="0"/>
          </a:p>
        </p:txBody>
      </p:sp>
      <p:pic>
        <p:nvPicPr>
          <p:cNvPr id="26" name="아이콘 LuDataba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210812"/>
            <a:ext cx="219456" cy="219456"/>
          </a:xfrm>
          <a:prstGeom prst="rect">
            <a:avLst/>
          </a:prstGeom>
        </p:spPr>
      </p:pic>
      <p:sp>
        <p:nvSpPr>
          <p:cNvPr id="27" name="레인 근거 검증"/>
          <p:cNvSpPr/>
          <p:nvPr/>
        </p:nvSpPr>
        <p:spPr>
          <a:xfrm>
            <a:off x="1755648" y="4983480"/>
            <a:ext cx="9976104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레인 이름 근거 검증"/>
          <p:cNvSpPr/>
          <p:nvPr/>
        </p:nvSpPr>
        <p:spPr>
          <a:xfrm>
            <a:off x="457200" y="502920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82600" tIns="0" rIns="508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근거 검증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규칙</a:t>
            </a:r>
            <a:endParaRPr lang="en-US" sz="1200" dirty="0"/>
          </a:p>
        </p:txBody>
      </p:sp>
      <p:pic>
        <p:nvPicPr>
          <p:cNvPr id="29" name="아이콘 LuShield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239512"/>
            <a:ext cx="219456" cy="219456"/>
          </a:xfrm>
          <a:prstGeom prst="rect">
            <a:avLst/>
          </a:prstGeom>
        </p:spPr>
      </p:pic>
      <p:sp>
        <p:nvSpPr>
          <p:cNvPr id="30" name="레인 담당자"/>
          <p:cNvSpPr/>
          <p:nvPr/>
        </p:nvSpPr>
        <p:spPr>
          <a:xfrm>
            <a:off x="1755648" y="5715000"/>
            <a:ext cx="9976104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레인 이름 담당자"/>
          <p:cNvSpPr/>
          <p:nvPr/>
        </p:nvSpPr>
        <p:spPr>
          <a:xfrm>
            <a:off x="457200" y="576072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482600" tIns="0" rIns="508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5E59"/>
                </a:solidFill>
              </a:rPr>
              <a:t>담당자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사람</a:t>
            </a:r>
            <a:endParaRPr lang="en-US" sz="1200" dirty="0"/>
          </a:p>
        </p:txBody>
      </p:sp>
      <p:pic>
        <p:nvPicPr>
          <p:cNvPr id="32" name="아이콘 LuUs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971032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869186" y="1847088"/>
            <a:ext cx="1536192" cy="603504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이상 징후 발견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생산 중인데 0/0/0</a:t>
            </a:r>
            <a:endParaRPr lang="en-US" sz="12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E1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점검 응답 보존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522726" y="2578608"/>
            <a:ext cx="1536192" cy="100584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가설 3개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① 화면 계산 오류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② 집계 서비스 이상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③ 저장 서비스 이상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176266" y="2578608"/>
            <a:ext cx="1536192" cy="100584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가설 ① 기각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저장소에 새 기록이 안 들어오는 이유로 좁힘</a:t>
            </a:r>
            <a:endParaRPr lang="en-US" sz="12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근거 E2·E3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829806" y="2578608"/>
            <a:ext cx="1536192" cy="100584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결론 — 가설 ③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원인: 저장 서비스의 메시지 소비 정지</a:t>
            </a:r>
            <a:endParaRPr lang="en-US" sz="12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근거 E3·E4·E5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5176266" y="3721608"/>
            <a:ext cx="1536192" cy="1197864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코드 추적 · 재계산 대조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E2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 화면 값 = 저장소 기록 건수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E3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 다시 세도 0건 → 화면은 정확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829806" y="3721608"/>
            <a:ext cx="1536192" cy="1197864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데이터 조회 · 코드 추적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E4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 대기열에 미처리 메시지 증가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E5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 그 대기열은 저장 서비스만 읽는다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8483346" y="5047488"/>
            <a:ext cx="1536192" cy="603504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근거 검증 통과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인용 증거 3건 실재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근거 없는 주장 없음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0136886" y="5779008"/>
            <a:ext cx="1536192" cy="603504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5E59"/>
                </a:solidFill>
              </a:rPr>
              <a:t>보고서 → 조치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① 저장 서비스 재기동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② 정지 원인 로그 확인</a:t>
            </a:r>
            <a:endParaRPr lang="en-US" sz="1200" dirty="0"/>
          </a:p>
        </p:txBody>
      </p:sp>
      <p:sp>
        <p:nvSpPr>
          <p:cNvPr id="41" name="연결선"/>
          <p:cNvSpPr/>
          <p:nvPr/>
        </p:nvSpPr>
        <p:spPr>
          <a:xfrm>
            <a:off x="3405378" y="2148840"/>
            <a:ext cx="5867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2" name="연결선"/>
          <p:cNvSpPr/>
          <p:nvPr/>
        </p:nvSpPr>
        <p:spPr>
          <a:xfrm>
            <a:off x="3464052" y="2148840"/>
            <a:ext cx="0" cy="93268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3" name="연결선"/>
          <p:cNvSpPr/>
          <p:nvPr/>
        </p:nvSpPr>
        <p:spPr>
          <a:xfrm>
            <a:off x="3464052" y="3081528"/>
            <a:ext cx="4953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연결선"/>
          <p:cNvSpPr/>
          <p:nvPr/>
        </p:nvSpPr>
        <p:spPr>
          <a:xfrm>
            <a:off x="5058918" y="3081528"/>
            <a:ext cx="5867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5" name="연결선"/>
          <p:cNvSpPr/>
          <p:nvPr/>
        </p:nvSpPr>
        <p:spPr>
          <a:xfrm>
            <a:off x="5117592" y="3081528"/>
            <a:ext cx="0" cy="1234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6" name="연결선"/>
          <p:cNvSpPr/>
          <p:nvPr/>
        </p:nvSpPr>
        <p:spPr>
          <a:xfrm>
            <a:off x="5117592" y="4315968"/>
            <a:ext cx="4953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연결선"/>
          <p:cNvSpPr/>
          <p:nvPr/>
        </p:nvSpPr>
        <p:spPr>
          <a:xfrm flipV="1">
            <a:off x="5944362" y="3602736"/>
            <a:ext cx="0" cy="1188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8" name="연결선"/>
          <p:cNvSpPr/>
          <p:nvPr/>
        </p:nvSpPr>
        <p:spPr>
          <a:xfrm>
            <a:off x="6712458" y="3081528"/>
            <a:ext cx="5867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9" name="연결선"/>
          <p:cNvSpPr/>
          <p:nvPr/>
        </p:nvSpPr>
        <p:spPr>
          <a:xfrm>
            <a:off x="6771132" y="3081528"/>
            <a:ext cx="0" cy="1234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0" name="연결선"/>
          <p:cNvSpPr/>
          <p:nvPr/>
        </p:nvSpPr>
        <p:spPr>
          <a:xfrm>
            <a:off x="6771132" y="4315968"/>
            <a:ext cx="4953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1" name="연결선"/>
          <p:cNvSpPr/>
          <p:nvPr/>
        </p:nvSpPr>
        <p:spPr>
          <a:xfrm flipV="1">
            <a:off x="7597902" y="3602736"/>
            <a:ext cx="0" cy="1188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연결선"/>
          <p:cNvSpPr/>
          <p:nvPr/>
        </p:nvSpPr>
        <p:spPr>
          <a:xfrm>
            <a:off x="8365998" y="3081528"/>
            <a:ext cx="5867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3" name="연결선"/>
          <p:cNvSpPr/>
          <p:nvPr/>
        </p:nvSpPr>
        <p:spPr>
          <a:xfrm>
            <a:off x="8424672" y="3081528"/>
            <a:ext cx="0" cy="226771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4" name="연결선"/>
          <p:cNvSpPr/>
          <p:nvPr/>
        </p:nvSpPr>
        <p:spPr>
          <a:xfrm>
            <a:off x="8424672" y="5349240"/>
            <a:ext cx="4953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연결선"/>
          <p:cNvSpPr/>
          <p:nvPr/>
        </p:nvSpPr>
        <p:spPr>
          <a:xfrm>
            <a:off x="10019538" y="5349240"/>
            <a:ext cx="5867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6" name="연결선"/>
          <p:cNvSpPr/>
          <p:nvPr/>
        </p:nvSpPr>
        <p:spPr>
          <a:xfrm>
            <a:off x="10078212" y="5349240"/>
            <a:ext cx="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7" name="연결선"/>
          <p:cNvSpPr/>
          <p:nvPr/>
        </p:nvSpPr>
        <p:spPr>
          <a:xfrm>
            <a:off x="10078212" y="6080760"/>
            <a:ext cx="4953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8" name="담당자 대기"/>
          <p:cNvSpPr/>
          <p:nvPr/>
        </p:nvSpPr>
        <p:spPr>
          <a:xfrm>
            <a:off x="1874520" y="6080760"/>
            <a:ext cx="8066532" cy="0"/>
          </a:xfrm>
          <a:prstGeom prst="line">
            <a:avLst/>
          </a:prstGeom>
          <a:noFill/>
          <a:ln w="15875">
            <a:solidFill>
              <a:srgbClr val="99C9C1"/>
            </a:solidFill>
            <a:prstDash val="dash"/>
          </a:ln>
        </p:spPr>
      </p:sp>
      <p:sp>
        <p:nvSpPr>
          <p:cNvPr id="59" name="이름표 탐지부터 결론까지 담당자 개입 없음 · 필요하면 AI가 질문"/>
          <p:cNvSpPr/>
          <p:nvPr/>
        </p:nvSpPr>
        <p:spPr>
          <a:xfrm>
            <a:off x="3465474" y="5960110"/>
            <a:ext cx="4041851" cy="2413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5E59"/>
                </a:solidFill>
              </a:rPr>
              <a:t>탐지부터 결론까지 담당자 개입 없음 · 필요하면 AI가 질문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AI의 말이 아니라 기록으로 확인한다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보고서의 모든 문장은 증거 번호를 달고, 규칙이 그 번호가 실제 기록인지 대조한다</a:t>
            </a:r>
            <a:endParaRPr lang="en-US" sz="1400" dirty="0"/>
          </a:p>
        </p:txBody>
      </p:sp>
      <p:pic>
        <p:nvPicPr>
          <p:cNvPr id="4" name="아이콘 LuSparkl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9808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보고서의 문장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AI가 썼다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371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근거 검증</a:t>
            </a:r>
            <a:endParaRPr lang="en-US" sz="1400" dirty="0"/>
          </a:p>
        </p:txBody>
      </p:sp>
      <p:pic>
        <p:nvPicPr>
          <p:cNvPr id="7" name="아이콘 LuFold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79008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사건 파일의 실제 기록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코드가 남겼다</a:t>
            </a:r>
            <a:endParaRPr lang="en-US" sz="1200" dirty="0"/>
          </a:p>
        </p:txBody>
      </p:sp>
      <p:sp>
        <p:nvSpPr>
          <p:cNvPr id="9" name="문장 E3"/>
          <p:cNvSpPr/>
          <p:nvPr/>
        </p:nvSpPr>
        <p:spPr>
          <a:xfrm>
            <a:off x="457200" y="173736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77800" tIns="0" rIns="7620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화면 계산은 정확하다</a:t>
            </a:r>
            <a:endParaRPr lang="en-US" sz="1300" dirty="0"/>
          </a:p>
        </p:txBody>
      </p:sp>
      <p:sp>
        <p:nvSpPr>
          <p:cNvPr id="10" name="번호 E3"/>
          <p:cNvSpPr/>
          <p:nvPr/>
        </p:nvSpPr>
        <p:spPr>
          <a:xfrm>
            <a:off x="3931920" y="1938528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E3</a:t>
            </a:r>
            <a:endParaRPr lang="en-US" sz="1100" dirty="0"/>
          </a:p>
        </p:txBody>
      </p:sp>
      <p:sp>
        <p:nvSpPr>
          <p:cNvPr id="11" name="연결선"/>
          <p:cNvSpPr/>
          <p:nvPr/>
        </p:nvSpPr>
        <p:spPr>
          <a:xfrm>
            <a:off x="4480560" y="2075688"/>
            <a:ext cx="9144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2" name="실재 확인"/>
          <p:cNvSpPr/>
          <p:nvPr/>
        </p:nvSpPr>
        <p:spPr>
          <a:xfrm>
            <a:off x="4645152" y="1892808"/>
            <a:ext cx="365760" cy="365760"/>
          </a:xfrm>
          <a:prstGeom prst="ellipse">
            <a:avLst/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pic>
        <p:nvPicPr>
          <p:cNvPr id="13" name="아이콘 Lu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96596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0" y="1801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실재</a:t>
            </a:r>
            <a:endParaRPr lang="en-US" sz="900" dirty="0"/>
          </a:p>
        </p:txBody>
      </p:sp>
      <p:sp>
        <p:nvSpPr>
          <p:cNvPr id="15" name="기록 E3"/>
          <p:cNvSpPr/>
          <p:nvPr/>
        </p:nvSpPr>
        <p:spPr>
          <a:xfrm>
            <a:off x="5394960" y="1737360"/>
            <a:ext cx="6336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77800" tIns="0" rIns="1270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E3  </a:t>
            </a:r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재계산 대조 · 10:02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물은 것 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알람 저장소의 최근 1시간 기록 수</a:t>
            </a:r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     받은 것  </a:t>
            </a:r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0건 — 끝까지 다 봄</a:t>
            </a:r>
            <a:endParaRPr lang="en-US" sz="1200" dirty="0"/>
          </a:p>
        </p:txBody>
      </p:sp>
      <p:sp>
        <p:nvSpPr>
          <p:cNvPr id="16" name="문장 E4"/>
          <p:cNvSpPr/>
          <p:nvPr/>
        </p:nvSpPr>
        <p:spPr>
          <a:xfrm>
            <a:off x="457200" y="2523744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77800" tIns="0" rIns="7620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알람 메시지가 처리되지 않고 쌓이고 있다</a:t>
            </a:r>
            <a:endParaRPr lang="en-US" sz="1300" dirty="0"/>
          </a:p>
        </p:txBody>
      </p:sp>
      <p:sp>
        <p:nvSpPr>
          <p:cNvPr id="17" name="번호 E4"/>
          <p:cNvSpPr/>
          <p:nvPr/>
        </p:nvSpPr>
        <p:spPr>
          <a:xfrm>
            <a:off x="3931920" y="2724912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E4</a:t>
            </a:r>
            <a:endParaRPr lang="en-US" sz="1100" dirty="0"/>
          </a:p>
        </p:txBody>
      </p:sp>
      <p:sp>
        <p:nvSpPr>
          <p:cNvPr id="18" name="연결선"/>
          <p:cNvSpPr/>
          <p:nvPr/>
        </p:nvSpPr>
        <p:spPr>
          <a:xfrm>
            <a:off x="4480560" y="2862072"/>
            <a:ext cx="9144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9" name="실재 확인"/>
          <p:cNvSpPr/>
          <p:nvPr/>
        </p:nvSpPr>
        <p:spPr>
          <a:xfrm>
            <a:off x="4645152" y="2679192"/>
            <a:ext cx="365760" cy="365760"/>
          </a:xfrm>
          <a:prstGeom prst="ellipse">
            <a:avLst/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pic>
        <p:nvPicPr>
          <p:cNvPr id="20" name="아이콘 Lu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75234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029200" y="25877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실재</a:t>
            </a:r>
            <a:endParaRPr lang="en-US" sz="900" dirty="0"/>
          </a:p>
        </p:txBody>
      </p:sp>
      <p:sp>
        <p:nvSpPr>
          <p:cNvPr id="22" name="기록 E4"/>
          <p:cNvSpPr/>
          <p:nvPr/>
        </p:nvSpPr>
        <p:spPr>
          <a:xfrm>
            <a:off x="5394960" y="2523744"/>
            <a:ext cx="6336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77800" tIns="0" rIns="1270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E4  </a:t>
            </a:r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데이터 조회 · 10:05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물은 것 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알람 메시지 대기열의 미처리 메시지 수</a:t>
            </a:r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     받은 것  </a:t>
            </a:r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조회할 때마다 증가</a:t>
            </a:r>
            <a:endParaRPr lang="en-US" sz="1200" dirty="0"/>
          </a:p>
        </p:txBody>
      </p:sp>
      <p:sp>
        <p:nvSpPr>
          <p:cNvPr id="23" name="문장 E5"/>
          <p:cNvSpPr/>
          <p:nvPr/>
        </p:nvSpPr>
        <p:spPr>
          <a:xfrm>
            <a:off x="457200" y="3310128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77800" tIns="0" rIns="7620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그 메시지를 저장하는 곳은 저장 서비스뿐이다</a:t>
            </a:r>
            <a:endParaRPr lang="en-US" sz="1300" dirty="0"/>
          </a:p>
        </p:txBody>
      </p:sp>
      <p:sp>
        <p:nvSpPr>
          <p:cNvPr id="24" name="번호 E5"/>
          <p:cNvSpPr/>
          <p:nvPr/>
        </p:nvSpPr>
        <p:spPr>
          <a:xfrm>
            <a:off x="3931920" y="3511296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E5</a:t>
            </a:r>
            <a:endParaRPr lang="en-US" sz="1100" dirty="0"/>
          </a:p>
        </p:txBody>
      </p:sp>
      <p:sp>
        <p:nvSpPr>
          <p:cNvPr id="25" name="연결선"/>
          <p:cNvSpPr/>
          <p:nvPr/>
        </p:nvSpPr>
        <p:spPr>
          <a:xfrm>
            <a:off x="4480560" y="3648456"/>
            <a:ext cx="9144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6" name="실재 확인"/>
          <p:cNvSpPr/>
          <p:nvPr/>
        </p:nvSpPr>
        <p:spPr>
          <a:xfrm>
            <a:off x="4645152" y="3465576"/>
            <a:ext cx="365760" cy="365760"/>
          </a:xfrm>
          <a:prstGeom prst="ellipse">
            <a:avLst/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pic>
        <p:nvPicPr>
          <p:cNvPr id="27" name="아이콘 Lu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3538728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029200" y="33741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실재</a:t>
            </a:r>
            <a:endParaRPr lang="en-US" sz="900" dirty="0"/>
          </a:p>
        </p:txBody>
      </p:sp>
      <p:sp>
        <p:nvSpPr>
          <p:cNvPr id="29" name="기록 E5"/>
          <p:cNvSpPr/>
          <p:nvPr/>
        </p:nvSpPr>
        <p:spPr>
          <a:xfrm>
            <a:off x="5394960" y="3310128"/>
            <a:ext cx="6336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77800" tIns="0" rIns="1270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E5  </a:t>
            </a:r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코드 추적 · 10:06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물은 것 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이 대기열을 읽어 저장하는 코드</a:t>
            </a:r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     받은 것  </a:t>
            </a:r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저장 서비스 1곳 (파일·줄 위치)</a:t>
            </a:r>
            <a:endParaRPr lang="en-US" sz="1200" dirty="0"/>
          </a:p>
        </p:txBody>
      </p:sp>
      <p:sp>
        <p:nvSpPr>
          <p:cNvPr id="30" name="문장 E9"/>
          <p:cNvSpPr/>
          <p:nvPr/>
        </p:nvSpPr>
        <p:spPr>
          <a:xfrm>
            <a:off x="457200" y="4096512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77800" tIns="0" rIns="7620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저장 서비스는 어제도 멈춘 적이 있다</a:t>
            </a:r>
            <a:endParaRPr lang="en-US" sz="1300" dirty="0"/>
          </a:p>
        </p:txBody>
      </p:sp>
      <p:sp>
        <p:nvSpPr>
          <p:cNvPr id="31" name="번호 E9"/>
          <p:cNvSpPr/>
          <p:nvPr/>
        </p:nvSpPr>
        <p:spPr>
          <a:xfrm>
            <a:off x="3931920" y="4297680"/>
            <a:ext cx="438912" cy="27432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E9</a:t>
            </a:r>
            <a:endParaRPr lang="en-US" sz="1100" dirty="0"/>
          </a:p>
        </p:txBody>
      </p:sp>
      <p:sp>
        <p:nvSpPr>
          <p:cNvPr id="32" name="연결선"/>
          <p:cNvSpPr/>
          <p:nvPr/>
        </p:nvSpPr>
        <p:spPr>
          <a:xfrm>
            <a:off x="4480560" y="4434840"/>
            <a:ext cx="9144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33" name="거부"/>
          <p:cNvSpPr/>
          <p:nvPr/>
        </p:nvSpPr>
        <p:spPr>
          <a:xfrm>
            <a:off x="4645152" y="4251960"/>
            <a:ext cx="365760" cy="365760"/>
          </a:xfrm>
          <a:prstGeom prst="ellipse">
            <a:avLst/>
          </a:prstGeom>
          <a:solidFill>
            <a:srgbClr val="FEF2F2"/>
          </a:solidFill>
          <a:ln w="22225">
            <a:solidFill>
              <a:srgbClr val="DC2626"/>
            </a:solidFill>
            <a:prstDash val="solid"/>
          </a:ln>
        </p:spPr>
      </p:sp>
      <p:pic>
        <p:nvPicPr>
          <p:cNvPr id="34" name="아이콘 Lu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432511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029200" y="4160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거부</a:t>
            </a:r>
            <a:endParaRPr lang="en-US" sz="900" dirty="0"/>
          </a:p>
        </p:txBody>
      </p:sp>
      <p:sp>
        <p:nvSpPr>
          <p:cNvPr id="36" name="없는 기록"/>
          <p:cNvSpPr/>
          <p:nvPr/>
        </p:nvSpPr>
        <p:spPr>
          <a:xfrm>
            <a:off x="5394960" y="4096512"/>
            <a:ext cx="6336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dash"/>
          </a:ln>
        </p:spPr>
        <p:txBody>
          <a:bodyPr wrap="square" lIns="177800" tIns="0" rIns="1270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E9  </a:t>
            </a:r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사건 파일에 이런 기록이 없다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AI가 지어낸 번호다 — 이 문장은 결론에 들어가지 못한다</a:t>
            </a:r>
            <a:endParaRPr lang="en-US" sz="1200" dirty="0"/>
          </a:p>
        </p:txBody>
      </p:sp>
      <p:sp>
        <p:nvSpPr>
          <p:cNvPr id="37" name="검증 규칙 틀"/>
          <p:cNvSpPr/>
          <p:nvPr/>
        </p:nvSpPr>
        <p:spPr>
          <a:xfrm>
            <a:off x="457200" y="493776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38" name="아이콘 LuShieldChec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047488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60120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근거 검증이 보는 것</a:t>
            </a:r>
            <a:endParaRPr lang="en-US" sz="1400" dirty="0"/>
          </a:p>
        </p:txBody>
      </p:sp>
      <p:pic>
        <p:nvPicPr>
          <p:cNvPr id="40" name="아이콘 LuCheck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440680"/>
            <a:ext cx="164592" cy="16459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32688" y="54223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인용한 증거가 사건 파일에 실제로 있다</a:t>
            </a:r>
            <a:endParaRPr lang="en-US" sz="1100" dirty="0"/>
          </a:p>
        </p:txBody>
      </p:sp>
      <p:pic>
        <p:nvPicPr>
          <p:cNvPr id="42" name="아이콘 LuCheck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669280"/>
            <a:ext cx="164592" cy="16459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32688" y="56509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근거 없이 쓴 주장이 없다</a:t>
            </a:r>
            <a:endParaRPr lang="en-US" sz="1100" dirty="0"/>
          </a:p>
        </p:txBody>
      </p:sp>
      <p:pic>
        <p:nvPicPr>
          <p:cNvPr id="44" name="아이콘 LuCheck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897880"/>
            <a:ext cx="164592" cy="16459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932688" y="58795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‘없다’는 끝까지 다 본 조회에서만 인정한다</a:t>
            </a:r>
            <a:endParaRPr lang="en-US" sz="1100" dirty="0"/>
          </a:p>
        </p:txBody>
      </p:sp>
      <p:pic>
        <p:nvPicPr>
          <p:cNvPr id="46" name="아이콘 LuRefreshCw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6126480"/>
            <a:ext cx="164592" cy="16459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32688" y="61081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못 지키면 한 번 다시 쓰고, 그래도 안 되면 신뢰도를 낮춰 ‘검증 미통과’로 표시</a:t>
            </a:r>
            <a:endParaRPr lang="en-US" sz="1100" dirty="0"/>
          </a:p>
        </p:txBody>
      </p:sp>
      <p:sp>
        <p:nvSpPr>
          <p:cNvPr id="48" name="세 상태 틀"/>
          <p:cNvSpPr/>
          <p:nvPr/>
        </p:nvSpPr>
        <p:spPr>
          <a:xfrm>
            <a:off x="6217920" y="4937760"/>
            <a:ext cx="55138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49" name="Text 36"/>
          <p:cNvSpPr txBox="1"/>
          <p:nvPr/>
        </p:nvSpPr>
        <p:spPr>
          <a:xfrm>
            <a:off x="6400800" y="5047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점검 결과는 셋 중 하나다</a:t>
            </a:r>
            <a:endParaRPr lang="en-US" sz="1400" dirty="0"/>
          </a:p>
        </p:txBody>
      </p:sp>
      <p:sp>
        <p:nvSpPr>
          <p:cNvPr id="50" name="상태 정상"/>
          <p:cNvSpPr/>
          <p:nvPr/>
        </p:nvSpPr>
        <p:spPr>
          <a:xfrm>
            <a:off x="6400800" y="539496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31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정상</a:t>
            </a: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봤고, 문제없다</a:t>
            </a:r>
            <a:endParaRPr lang="en-US" sz="1200" dirty="0"/>
          </a:p>
        </p:txBody>
      </p:sp>
      <p:pic>
        <p:nvPicPr>
          <p:cNvPr id="51" name="아이콘 LuCheck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5468112"/>
            <a:ext cx="201168" cy="201168"/>
          </a:xfrm>
          <a:prstGeom prst="rect">
            <a:avLst/>
          </a:prstGeom>
        </p:spPr>
      </p:pic>
      <p:sp>
        <p:nvSpPr>
          <p:cNvPr id="52" name="상태 이상"/>
          <p:cNvSpPr/>
          <p:nvPr/>
        </p:nvSpPr>
        <p:spPr>
          <a:xfrm>
            <a:off x="8138160" y="539496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  <p:txBody>
          <a:bodyPr wrap="square" lIns="431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이상</a:t>
            </a: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봤고, 문제 있다</a:t>
            </a:r>
            <a:endParaRPr lang="en-US" sz="1200" dirty="0"/>
          </a:p>
        </p:txBody>
      </p:sp>
      <p:pic>
        <p:nvPicPr>
          <p:cNvPr id="53" name="아이콘 LuTriangleAlert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9600" y="5468112"/>
            <a:ext cx="201168" cy="201168"/>
          </a:xfrm>
          <a:prstGeom prst="rect">
            <a:avLst/>
          </a:prstGeom>
        </p:spPr>
      </p:pic>
      <p:sp>
        <p:nvSpPr>
          <p:cNvPr id="54" name="상태 확인 못 함"/>
          <p:cNvSpPr/>
          <p:nvPr/>
        </p:nvSpPr>
        <p:spPr>
          <a:xfrm>
            <a:off x="9875520" y="539496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dash"/>
          </a:ln>
        </p:spPr>
        <p:txBody>
          <a:bodyPr wrap="square" lIns="431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확인 못 함</a:t>
            </a:r>
            <a:endParaRPr lang="en-US" sz="12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못 봤다 — 정상으로 치지 않는다</a:t>
            </a:r>
            <a:endParaRPr lang="en-US" sz="1200" dirty="0"/>
          </a:p>
        </p:txBody>
      </p:sp>
      <p:pic>
        <p:nvPicPr>
          <p:cNvPr id="55" name="아이콘 LuSquare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66960" y="5468112"/>
            <a:ext cx="201168" cy="201168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6400800" y="605332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못 본 것은 보고서의 ‘확인하지 못한 것’에 그대로 남는다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담당자가 받는 것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사건마다 조사 보고서, 매일 아침 알람 리포트, 필요할 때 여는 데이터 흐름 지도</a:t>
            </a:r>
            <a:endParaRPr lang="en-US" sz="1400" dirty="0"/>
          </a:p>
        </p:txBody>
      </p:sp>
      <p:sp>
        <p:nvSpPr>
          <p:cNvPr id="4" name="창 틀"/>
          <p:cNvSpPr/>
          <p:nvPr/>
        </p:nvSpPr>
        <p:spPr>
          <a:xfrm>
            <a:off x="457200" y="1371600"/>
            <a:ext cx="3575304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제목 표시줄"/>
          <p:cNvSpPr/>
          <p:nvPr/>
        </p:nvSpPr>
        <p:spPr>
          <a:xfrm>
            <a:off x="466344" y="1380744"/>
            <a:ext cx="3557016" cy="310896"/>
          </a:xfrm>
          <a:prstGeom prst="rect">
            <a:avLst/>
          </a:prstGeom>
          <a:solidFill>
            <a:srgbClr val="F3F3F3"/>
          </a:solidFill>
          <a:ln/>
        </p:spPr>
      </p:sp>
      <p:pic>
        <p:nvPicPr>
          <p:cNvPr id="6" name="최소화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9816" y="1463040"/>
            <a:ext cx="128016" cy="128016"/>
          </a:xfrm>
          <a:prstGeom prst="rect">
            <a:avLst/>
          </a:prstGeom>
        </p:spPr>
      </p:pic>
      <p:pic>
        <p:nvPicPr>
          <p:cNvPr id="7" name="최대화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72184"/>
            <a:ext cx="109728" cy="109728"/>
          </a:xfrm>
          <a:prstGeom prst="rect">
            <a:avLst/>
          </a:prstGeom>
        </p:spPr>
      </p:pic>
      <p:pic>
        <p:nvPicPr>
          <p:cNvPr id="8" name="닫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1463040"/>
            <a:ext cx="128016" cy="128016"/>
          </a:xfrm>
          <a:prstGeom prst="rect">
            <a:avLst/>
          </a:prstGeom>
        </p:spPr>
      </p:pic>
      <p:pic>
        <p:nvPicPr>
          <p:cNvPr id="9" name="앱 아이콘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53896"/>
            <a:ext cx="155448" cy="15544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04672" y="1444752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받은 편지함 - 메일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640080" y="176479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[사건 c-12] 알람 현황 0/0/0</a:t>
            </a:r>
            <a:endParaRPr lang="en-US" sz="1300" dirty="0"/>
          </a:p>
        </p:txBody>
      </p:sp>
      <p:sp>
        <p:nvSpPr>
          <p:cNvPr id="12" name="보낸 사람"/>
          <p:cNvSpPr/>
          <p:nvPr/>
        </p:nvSpPr>
        <p:spPr>
          <a:xfrm>
            <a:off x="640080" y="205740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운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969264" y="20939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운영 모니터링 에이전트</a:t>
            </a:r>
            <a:endParaRPr lang="en-US" sz="1000" dirty="0"/>
          </a:p>
        </p:txBody>
      </p:sp>
      <p:sp>
        <p:nvSpPr>
          <p:cNvPr id="14" name="구분선"/>
          <p:cNvSpPr/>
          <p:nvPr/>
        </p:nvSpPr>
        <p:spPr>
          <a:xfrm>
            <a:off x="640080" y="2377440"/>
            <a:ext cx="320954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판정"/>
          <p:cNvSpPr/>
          <p:nvPr/>
        </p:nvSpPr>
        <p:spPr>
          <a:xfrm>
            <a:off x="640080" y="2450592"/>
            <a:ext cx="3209544" cy="676656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27000" tIns="50800" rIns="76200" bIns="508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판정</a:t>
            </a:r>
            <a:endParaRPr lang="en-US" sz="12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저장 서비스의 메시지 소비 정지</a:t>
            </a:r>
            <a:endParaRPr lang="en-US" sz="1200" dirty="0"/>
          </a:p>
        </p:txBody>
      </p:sp>
      <p:sp>
        <p:nvSpPr>
          <p:cNvPr id="16" name="칩 신뢰도 높음"/>
          <p:cNvSpPr/>
          <p:nvPr/>
        </p:nvSpPr>
        <p:spPr>
          <a:xfrm>
            <a:off x="768096" y="2862072"/>
            <a:ext cx="83769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신뢰도 높음</a:t>
            </a:r>
            <a:endParaRPr lang="en-US" sz="1000" dirty="0"/>
          </a:p>
        </p:txBody>
      </p:sp>
      <p:sp>
        <p:nvSpPr>
          <p:cNvPr id="17" name="칩 근거 검증 통과"/>
          <p:cNvSpPr/>
          <p:nvPr/>
        </p:nvSpPr>
        <p:spPr>
          <a:xfrm>
            <a:off x="1678940" y="2862072"/>
            <a:ext cx="100279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근거 검증 통과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3218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조사 단계</a:t>
            </a:r>
            <a:endParaRPr lang="en-US" sz="1000" dirty="0"/>
          </a:p>
        </p:txBody>
      </p:sp>
      <p:pic>
        <p:nvPicPr>
          <p:cNvPr id="19" name="아이콘 Lu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38144"/>
            <a:ext cx="137160" cy="1371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32104" y="3419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가설 수립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3건</a:t>
            </a:r>
            <a:endParaRPr lang="en-US" sz="1000" dirty="0"/>
          </a:p>
        </p:txBody>
      </p:sp>
      <p:pic>
        <p:nvPicPr>
          <p:cNvPr id="21" name="아이콘 Lu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0280" y="3438144"/>
            <a:ext cx="137160" cy="1371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432304" y="3419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조사 실행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4건 성공</a:t>
            </a:r>
            <a:endParaRPr lang="en-US" sz="1000" dirty="0"/>
          </a:p>
        </p:txBody>
      </p:sp>
      <p:pic>
        <p:nvPicPr>
          <p:cNvPr id="23" name="아이콘 LuChec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48456"/>
            <a:ext cx="137160" cy="1371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32104" y="3630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판정</a:t>
            </a:r>
            <a:pPr algn="l" indent="0" marL="0">
              <a:buNone/>
            </a:pPr>
            <a:endParaRPr lang="en-US" sz="1000" dirty="0"/>
          </a:p>
        </p:txBody>
      </p:sp>
      <p:pic>
        <p:nvPicPr>
          <p:cNvPr id="25" name="아이콘 LuCheck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0280" y="3648456"/>
            <a:ext cx="137160" cy="13716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2432304" y="3630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근거 검증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통과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640080" y="3877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근거</a:t>
            </a:r>
            <a:endParaRPr lang="en-US" sz="1000" dirty="0"/>
          </a:p>
        </p:txBody>
      </p:sp>
      <p:sp>
        <p:nvSpPr>
          <p:cNvPr id="28" name="칩 E3"/>
          <p:cNvSpPr/>
          <p:nvPr/>
        </p:nvSpPr>
        <p:spPr>
          <a:xfrm>
            <a:off x="640080" y="4078224"/>
            <a:ext cx="32715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E3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1024128" y="408736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저장소를 다시 세도 0건</a:t>
            </a:r>
            <a:endParaRPr lang="en-US" sz="1000" dirty="0"/>
          </a:p>
        </p:txBody>
      </p:sp>
      <p:sp>
        <p:nvSpPr>
          <p:cNvPr id="30" name="칩 E4"/>
          <p:cNvSpPr/>
          <p:nvPr/>
        </p:nvSpPr>
        <p:spPr>
          <a:xfrm>
            <a:off x="640080" y="4288536"/>
            <a:ext cx="32715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E4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1024128" y="4297680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대기열에 미처리 메시지 증가</a:t>
            </a:r>
            <a:endParaRPr lang="en-US" sz="1000" dirty="0"/>
          </a:p>
        </p:txBody>
      </p:sp>
      <p:sp>
        <p:nvSpPr>
          <p:cNvPr id="32" name="칩 E5"/>
          <p:cNvSpPr/>
          <p:nvPr/>
        </p:nvSpPr>
        <p:spPr>
          <a:xfrm>
            <a:off x="640080" y="4498848"/>
            <a:ext cx="32715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E5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1024128" y="450799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저장하는 곳은 저장 서비스뿐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640080" y="4754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조치 권고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640080" y="4946904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① 저장 서비스 재기동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640080" y="5148072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② 정지 원인 로그 확인</a:t>
            </a:r>
            <a:endParaRPr lang="en-US" sz="1100" dirty="0"/>
          </a:p>
        </p:txBody>
      </p:sp>
      <p:sp>
        <p:nvSpPr>
          <p:cNvPr id="37" name="확인하지 못한 것"/>
          <p:cNvSpPr/>
          <p:nvPr/>
        </p:nvSpPr>
        <p:spPr>
          <a:xfrm>
            <a:off x="640080" y="5413248"/>
            <a:ext cx="3209544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</p:spPr>
        <p:txBody>
          <a:bodyPr wrap="square" lIns="330200" tIns="38100" rIns="76200" bIns="381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확인하지 못한 것  </a:t>
            </a:r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저장 서비스 로그 —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조회 범위 밖이라 사람 확인 필요</a:t>
            </a:r>
            <a:endParaRPr lang="en-US" sz="1200" dirty="0"/>
          </a:p>
        </p:txBody>
      </p:sp>
      <p:sp>
        <p:nvSpPr>
          <p:cNvPr id="38" name="빈 체크"/>
          <p:cNvSpPr/>
          <p:nvPr/>
        </p:nvSpPr>
        <p:spPr>
          <a:xfrm>
            <a:off x="731520" y="5522976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39" name="창 틀"/>
          <p:cNvSpPr/>
          <p:nvPr/>
        </p:nvSpPr>
        <p:spPr>
          <a:xfrm>
            <a:off x="4306824" y="1371600"/>
            <a:ext cx="3575304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제목 표시줄"/>
          <p:cNvSpPr/>
          <p:nvPr/>
        </p:nvSpPr>
        <p:spPr>
          <a:xfrm>
            <a:off x="4315968" y="1380744"/>
            <a:ext cx="3557016" cy="310896"/>
          </a:xfrm>
          <a:prstGeom prst="rect">
            <a:avLst/>
          </a:prstGeom>
          <a:solidFill>
            <a:srgbClr val="F3F3F3"/>
          </a:solidFill>
          <a:ln/>
        </p:spPr>
      </p:sp>
      <p:pic>
        <p:nvPicPr>
          <p:cNvPr id="41" name="최소화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1463040"/>
            <a:ext cx="128016" cy="128016"/>
          </a:xfrm>
          <a:prstGeom prst="rect">
            <a:avLst/>
          </a:prstGeom>
        </p:spPr>
      </p:pic>
      <p:pic>
        <p:nvPicPr>
          <p:cNvPr id="42" name="최대화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8624" y="1472184"/>
            <a:ext cx="109728" cy="109728"/>
          </a:xfrm>
          <a:prstGeom prst="rect">
            <a:avLst/>
          </a:prstGeom>
        </p:spPr>
      </p:pic>
      <p:pic>
        <p:nvPicPr>
          <p:cNvPr id="43" name="닫기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7808" y="1463040"/>
            <a:ext cx="128016" cy="128016"/>
          </a:xfrm>
          <a:prstGeom prst="rect">
            <a:avLst/>
          </a:prstGeom>
        </p:spPr>
      </p:pic>
      <p:pic>
        <p:nvPicPr>
          <p:cNvPr id="44" name="앱 아이콘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6552" y="1453896"/>
            <a:ext cx="155448" cy="155448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4654296" y="1444752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받은 편지함 - 메일</a:t>
            </a:r>
            <a:endParaRPr lang="en-US" sz="1000" dirty="0"/>
          </a:p>
        </p:txBody>
      </p:sp>
      <p:sp>
        <p:nvSpPr>
          <p:cNvPr id="46" name="Text 32"/>
          <p:cNvSpPr txBox="1"/>
          <p:nvPr/>
        </p:nvSpPr>
        <p:spPr>
          <a:xfrm>
            <a:off x="4489704" y="176479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[일일 알람 리포트] 28개 사이트</a:t>
            </a:r>
            <a:endParaRPr lang="en-US" sz="1300" dirty="0"/>
          </a:p>
        </p:txBody>
      </p:sp>
      <p:sp>
        <p:nvSpPr>
          <p:cNvPr id="47" name="보낸 사람"/>
          <p:cNvSpPr/>
          <p:nvPr/>
        </p:nvSpPr>
        <p:spPr>
          <a:xfrm>
            <a:off x="4489704" y="205740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운</a:t>
            </a:r>
            <a:endParaRPr lang="en-US" sz="1100" dirty="0"/>
          </a:p>
        </p:txBody>
      </p:sp>
      <p:sp>
        <p:nvSpPr>
          <p:cNvPr id="48" name="Text 34"/>
          <p:cNvSpPr txBox="1"/>
          <p:nvPr/>
        </p:nvSpPr>
        <p:spPr>
          <a:xfrm>
            <a:off x="4818888" y="209397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운영 모니터링 에이전트 · 매일 아침</a:t>
            </a:r>
            <a:endParaRPr lang="en-US" sz="1000" dirty="0"/>
          </a:p>
        </p:txBody>
      </p:sp>
      <p:sp>
        <p:nvSpPr>
          <p:cNvPr id="49" name="구분선"/>
          <p:cNvSpPr/>
          <p:nvPr/>
        </p:nvSpPr>
        <p:spPr>
          <a:xfrm>
            <a:off x="4489704" y="2377440"/>
            <a:ext cx="320954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주요 이슈 분석"/>
          <p:cNvSpPr/>
          <p:nvPr/>
        </p:nvSpPr>
        <p:spPr>
          <a:xfrm>
            <a:off x="4489704" y="2450592"/>
            <a:ext cx="3209544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27000" tIns="50800" rIns="762000" bIns="508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주요 이슈 분석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사업부 A의 알람이 전일보다 18% 늘었고, 증가분 대부분은 사이트 3의 라인 7이다.</a:t>
            </a:r>
            <a:endParaRPr lang="en-US" sz="12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숫자는 코드가 센 값만 인용한다</a:t>
            </a:r>
            <a:endParaRPr lang="en-US" sz="1200" dirty="0"/>
          </a:p>
        </p:txBody>
      </p:sp>
      <p:sp>
        <p:nvSpPr>
          <p:cNvPr id="51" name="칩 AI 서술"/>
          <p:cNvSpPr/>
          <p:nvPr/>
        </p:nvSpPr>
        <p:spPr>
          <a:xfrm>
            <a:off x="7059168" y="2505456"/>
            <a:ext cx="61925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AI 서술</a:t>
            </a:r>
            <a:endParaRPr lang="en-US" sz="1000" dirty="0"/>
          </a:p>
        </p:txBody>
      </p:sp>
      <p:sp>
        <p:nvSpPr>
          <p:cNvPr id="52" name="Text 38"/>
          <p:cNvSpPr txBox="1"/>
          <p:nvPr/>
        </p:nvSpPr>
        <p:spPr>
          <a:xfrm>
            <a:off x="4489704" y="3227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사업부별 요약</a:t>
            </a:r>
            <a:endParaRPr lang="en-US" sz="1000" dirty="0"/>
          </a:p>
        </p:txBody>
      </p:sp>
      <p:graphicFrame>
        <p:nvGraphicFramePr>
          <p:cNvPr id="10" name="사업부별 요약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9704" y="3410712"/>
          <a:ext cx="320954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106424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사업부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알람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전일 대비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1,234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▲ 18%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856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▼ 4%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412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</a:rPr>
                        <a:t>▲ 2%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" name="Text 39"/>
          <p:cNvSpPr txBox="1"/>
          <p:nvPr/>
        </p:nvSpPr>
        <p:spPr>
          <a:xfrm>
            <a:off x="4489704" y="4572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일별 알람 추이 (평일)</a:t>
            </a:r>
            <a:endParaRPr lang="en-US" sz="1000" dirty="0"/>
          </a:p>
        </p:txBody>
      </p:sp>
      <p:graphicFrame>
        <p:nvGraphicFramePr>
          <p:cNvPr id="55" name="일별 알람 추이" descr=""/>
          <p:cNvGraphicFramePr/>
          <p:nvPr/>
        </p:nvGraphicFramePr>
        <p:xfrm>
          <a:off x="4489704" y="4754880"/>
          <a:ext cx="3209544" cy="640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56" name="조회 범위"/>
          <p:cNvSpPr/>
          <p:nvPr/>
        </p:nvSpPr>
        <p:spPr>
          <a:xfrm>
            <a:off x="4489704" y="5468112"/>
            <a:ext cx="3209544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381000" tIns="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조회 범위 28 / 28 사이트</a:t>
            </a:r>
            <a:endParaRPr lang="en-US" sz="1100" dirty="0"/>
          </a:p>
        </p:txBody>
      </p:sp>
      <p:pic>
        <p:nvPicPr>
          <p:cNvPr id="57" name="아이콘 LuCheck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9432" y="5559552"/>
            <a:ext cx="146304" cy="146304"/>
          </a:xfrm>
          <a:prstGeom prst="rect">
            <a:avLst/>
          </a:prstGeom>
        </p:spPr>
      </p:pic>
      <p:sp>
        <p:nvSpPr>
          <p:cNvPr id="58" name="창 틀"/>
          <p:cNvSpPr/>
          <p:nvPr/>
        </p:nvSpPr>
        <p:spPr>
          <a:xfrm>
            <a:off x="8156448" y="1371600"/>
            <a:ext cx="3575304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9" name="제목 표시줄"/>
          <p:cNvSpPr/>
          <p:nvPr/>
        </p:nvSpPr>
        <p:spPr>
          <a:xfrm>
            <a:off x="8165592" y="1380744"/>
            <a:ext cx="3557016" cy="310896"/>
          </a:xfrm>
          <a:prstGeom prst="rect">
            <a:avLst/>
          </a:prstGeom>
          <a:solidFill>
            <a:srgbClr val="F3F3F3"/>
          </a:solidFill>
          <a:ln/>
        </p:spPr>
      </p:sp>
      <p:pic>
        <p:nvPicPr>
          <p:cNvPr id="60" name="최소화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99064" y="1463040"/>
            <a:ext cx="128016" cy="128016"/>
          </a:xfrm>
          <a:prstGeom prst="rect">
            <a:avLst/>
          </a:prstGeom>
        </p:spPr>
      </p:pic>
      <p:pic>
        <p:nvPicPr>
          <p:cNvPr id="61" name="최대화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28248" y="1472184"/>
            <a:ext cx="109728" cy="109728"/>
          </a:xfrm>
          <a:prstGeom prst="rect">
            <a:avLst/>
          </a:prstGeom>
        </p:spPr>
      </p:pic>
      <p:pic>
        <p:nvPicPr>
          <p:cNvPr id="62" name="닫기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57432" y="1463040"/>
            <a:ext cx="128016" cy="128016"/>
          </a:xfrm>
          <a:prstGeom prst="rect">
            <a:avLst/>
          </a:prstGeom>
        </p:spPr>
      </p:pic>
      <p:sp>
        <p:nvSpPr>
          <p:cNvPr id="63" name="활성 탭"/>
          <p:cNvSpPr/>
          <p:nvPr/>
        </p:nvSpPr>
        <p:spPr>
          <a:xfrm>
            <a:off x="8247888" y="1426464"/>
            <a:ext cx="211226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pic>
        <p:nvPicPr>
          <p:cNvPr id="64" name="탭 아이콘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39328" y="1481328"/>
            <a:ext cx="137160" cy="137160"/>
          </a:xfrm>
          <a:prstGeom prst="rect">
            <a:avLst/>
          </a:prstGeom>
        </p:spPr>
      </p:pic>
      <p:sp>
        <p:nvSpPr>
          <p:cNvPr id="65" name="Text 44"/>
          <p:cNvSpPr txBox="1"/>
          <p:nvPr/>
        </p:nvSpPr>
        <p:spPr>
          <a:xfrm>
            <a:off x="8540496" y="1463040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데이터 흐름 지도</a:t>
            </a:r>
            <a:endParaRPr lang="en-US" sz="1000" dirty="0"/>
          </a:p>
        </p:txBody>
      </p:sp>
      <p:pic>
        <p:nvPicPr>
          <p:cNvPr id="66" name="탭 닫기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58984" y="1490472"/>
            <a:ext cx="100584" cy="100584"/>
          </a:xfrm>
          <a:prstGeom prst="rect">
            <a:avLst/>
          </a:prstGeom>
        </p:spPr>
      </p:pic>
      <p:pic>
        <p:nvPicPr>
          <p:cNvPr id="67" name="새 탭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51592" y="1481328"/>
            <a:ext cx="128016" cy="128016"/>
          </a:xfrm>
          <a:prstGeom prst="rect">
            <a:avLst/>
          </a:prstGeom>
        </p:spPr>
      </p:pic>
      <p:sp>
        <p:nvSpPr>
          <p:cNvPr id="68" name="주소 표시줄 줄"/>
          <p:cNvSpPr/>
          <p:nvPr/>
        </p:nvSpPr>
        <p:spPr>
          <a:xfrm>
            <a:off x="8165592" y="1691640"/>
            <a:ext cx="3557016" cy="32918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9" name="뒤로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93608" y="1783080"/>
            <a:ext cx="146304" cy="146304"/>
          </a:xfrm>
          <a:prstGeom prst="rect">
            <a:avLst/>
          </a:prstGeom>
        </p:spPr>
      </p:pic>
      <p:pic>
        <p:nvPicPr>
          <p:cNvPr id="70" name="앞으로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49640" y="1783080"/>
            <a:ext cx="146304" cy="146304"/>
          </a:xfrm>
          <a:prstGeom prst="rect">
            <a:avLst/>
          </a:prstGeom>
        </p:spPr>
      </p:pic>
      <p:pic>
        <p:nvPicPr>
          <p:cNvPr id="71" name="새로고침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05672" y="1783080"/>
            <a:ext cx="146304" cy="146304"/>
          </a:xfrm>
          <a:prstGeom prst="rect">
            <a:avLst/>
          </a:prstGeom>
        </p:spPr>
      </p:pic>
      <p:sp>
        <p:nvSpPr>
          <p:cNvPr id="72" name="주소"/>
          <p:cNvSpPr/>
          <p:nvPr/>
        </p:nvSpPr>
        <p:spPr>
          <a:xfrm>
            <a:off x="9070848" y="1728216"/>
            <a:ext cx="2523744" cy="23774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/>
        </p:spPr>
        <p:txBody>
          <a:bodyPr wrap="square" lIns="127000" tIns="0" rIns="762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C:\ops-agent\output\graph\flow.html</a:t>
            </a:r>
            <a:endParaRPr lang="en-US" sz="1000" dirty="0"/>
          </a:p>
        </p:txBody>
      </p:sp>
      <p:sp>
        <p:nvSpPr>
          <p:cNvPr id="73" name="구분선"/>
          <p:cNvSpPr/>
          <p:nvPr/>
        </p:nvSpPr>
        <p:spPr>
          <a:xfrm>
            <a:off x="8156448" y="2020824"/>
            <a:ext cx="3575304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74" name="Text 48"/>
          <p:cNvSpPr txBox="1"/>
          <p:nvPr/>
        </p:nvSpPr>
        <p:spPr>
          <a:xfrm>
            <a:off x="8339328" y="2103120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데이터 흐름 지도</a:t>
            </a:r>
            <a:endParaRPr lang="en-US" sz="1300" dirty="0"/>
          </a:p>
        </p:txBody>
      </p:sp>
      <p:sp>
        <p:nvSpPr>
          <p:cNvPr id="75" name="Text 49"/>
          <p:cNvSpPr txBox="1"/>
          <p:nvPr/>
        </p:nvSpPr>
        <p:spPr>
          <a:xfrm>
            <a:off x="8339328" y="2340864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사업부 A · 사업장 1 — 배포된 코드 기준</a:t>
            </a:r>
            <a:endParaRPr lang="en-US" sz="1000" dirty="0"/>
          </a:p>
        </p:txBody>
      </p:sp>
      <p:sp>
        <p:nvSpPr>
          <p:cNvPr id="76" name="노드 수집 서비스"/>
          <p:cNvSpPr/>
          <p:nvPr/>
        </p:nvSpPr>
        <p:spPr>
          <a:xfrm>
            <a:off x="8979408" y="2615184"/>
            <a:ext cx="17830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0160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수집 서비스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서비스</a:t>
            </a:r>
            <a:endParaRPr lang="en-US" sz="1000" dirty="0"/>
          </a:p>
        </p:txBody>
      </p:sp>
      <p:sp>
        <p:nvSpPr>
          <p:cNvPr id="77" name="노드 원천 메시지"/>
          <p:cNvSpPr/>
          <p:nvPr/>
        </p:nvSpPr>
        <p:spPr>
          <a:xfrm>
            <a:off x="8979408" y="2990088"/>
            <a:ext cx="1783080" cy="228600"/>
          </a:xfrm>
          <a:prstGeom prst="roundRect">
            <a:avLst>
              <a:gd name="adj" fmla="val 5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0160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원천 메시지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토픽</a:t>
            </a:r>
            <a:endParaRPr lang="en-US" sz="1000" dirty="0"/>
          </a:p>
        </p:txBody>
      </p:sp>
      <p:sp>
        <p:nvSpPr>
          <p:cNvPr id="78" name="연결선"/>
          <p:cNvSpPr/>
          <p:nvPr/>
        </p:nvSpPr>
        <p:spPr>
          <a:xfrm>
            <a:off x="9870948" y="2843784"/>
            <a:ext cx="0" cy="13716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9" name="Text 53"/>
          <p:cNvSpPr txBox="1"/>
          <p:nvPr/>
        </p:nvSpPr>
        <p:spPr>
          <a:xfrm>
            <a:off x="9944100" y="28437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보냄</a:t>
            </a:r>
            <a:endParaRPr lang="en-US" sz="800" dirty="0"/>
          </a:p>
        </p:txBody>
      </p:sp>
      <p:sp>
        <p:nvSpPr>
          <p:cNvPr id="80" name="노드 처리 서비스"/>
          <p:cNvSpPr/>
          <p:nvPr/>
        </p:nvSpPr>
        <p:spPr>
          <a:xfrm>
            <a:off x="8979408" y="3364992"/>
            <a:ext cx="17830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0160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처리 서비스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서비스</a:t>
            </a:r>
            <a:endParaRPr lang="en-US" sz="1000" dirty="0"/>
          </a:p>
        </p:txBody>
      </p:sp>
      <p:sp>
        <p:nvSpPr>
          <p:cNvPr id="81" name="연결선"/>
          <p:cNvSpPr/>
          <p:nvPr/>
        </p:nvSpPr>
        <p:spPr>
          <a:xfrm>
            <a:off x="9870948" y="3218688"/>
            <a:ext cx="0" cy="13716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2" name="Text 56"/>
          <p:cNvSpPr txBox="1"/>
          <p:nvPr/>
        </p:nvSpPr>
        <p:spPr>
          <a:xfrm>
            <a:off x="9944100" y="32186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받음</a:t>
            </a:r>
            <a:endParaRPr lang="en-US" sz="800" dirty="0"/>
          </a:p>
        </p:txBody>
      </p:sp>
      <p:sp>
        <p:nvSpPr>
          <p:cNvPr id="83" name="노드 알람 메시지"/>
          <p:cNvSpPr/>
          <p:nvPr/>
        </p:nvSpPr>
        <p:spPr>
          <a:xfrm>
            <a:off x="8979408" y="3739896"/>
            <a:ext cx="1783080" cy="228600"/>
          </a:xfrm>
          <a:prstGeom prst="roundRect">
            <a:avLst>
              <a:gd name="adj" fmla="val 5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0160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알람 메시지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토픽</a:t>
            </a:r>
            <a:endParaRPr lang="en-US" sz="1000" dirty="0"/>
          </a:p>
        </p:txBody>
      </p:sp>
      <p:sp>
        <p:nvSpPr>
          <p:cNvPr id="84" name="연결선"/>
          <p:cNvSpPr/>
          <p:nvPr/>
        </p:nvSpPr>
        <p:spPr>
          <a:xfrm>
            <a:off x="9870948" y="3593592"/>
            <a:ext cx="0" cy="13716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5" name="Text 59"/>
          <p:cNvSpPr txBox="1"/>
          <p:nvPr/>
        </p:nvSpPr>
        <p:spPr>
          <a:xfrm>
            <a:off x="9944100" y="35935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보냄</a:t>
            </a:r>
            <a:endParaRPr lang="en-US" sz="800" dirty="0"/>
          </a:p>
        </p:txBody>
      </p:sp>
      <p:sp>
        <p:nvSpPr>
          <p:cNvPr id="86" name="노드 저장 서비스"/>
          <p:cNvSpPr/>
          <p:nvPr/>
        </p:nvSpPr>
        <p:spPr>
          <a:xfrm>
            <a:off x="8979408" y="4114800"/>
            <a:ext cx="1783080" cy="2286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 wrap="square" lIns="10160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저장 서비스</a:t>
            </a:r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   서비스</a:t>
            </a:r>
            <a:endParaRPr lang="en-US" sz="1000" dirty="0"/>
          </a:p>
        </p:txBody>
      </p:sp>
      <p:sp>
        <p:nvSpPr>
          <p:cNvPr id="87" name="연결선"/>
          <p:cNvSpPr/>
          <p:nvPr/>
        </p:nvSpPr>
        <p:spPr>
          <a:xfrm>
            <a:off x="9870948" y="3968496"/>
            <a:ext cx="0" cy="13716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8" name="Text 62"/>
          <p:cNvSpPr txBox="1"/>
          <p:nvPr/>
        </p:nvSpPr>
        <p:spPr>
          <a:xfrm>
            <a:off x="9944100" y="39684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받음</a:t>
            </a:r>
            <a:endParaRPr lang="en-US" sz="800" dirty="0"/>
          </a:p>
        </p:txBody>
      </p:sp>
      <p:sp>
        <p:nvSpPr>
          <p:cNvPr id="89" name="노드 알람 저장소"/>
          <p:cNvSpPr/>
          <p:nvPr/>
        </p:nvSpPr>
        <p:spPr>
          <a:xfrm>
            <a:off x="8979408" y="4489704"/>
            <a:ext cx="1783080" cy="2286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 wrap="square" lIns="10160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알람 저장소</a:t>
            </a:r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   컬렉션</a:t>
            </a:r>
            <a:endParaRPr lang="en-US" sz="1000" dirty="0"/>
          </a:p>
        </p:txBody>
      </p:sp>
      <p:sp>
        <p:nvSpPr>
          <p:cNvPr id="90" name="연결선"/>
          <p:cNvSpPr/>
          <p:nvPr/>
        </p:nvSpPr>
        <p:spPr>
          <a:xfrm>
            <a:off x="9870948" y="4343400"/>
            <a:ext cx="0" cy="13716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1" name="Text 65"/>
          <p:cNvSpPr txBox="1"/>
          <p:nvPr/>
        </p:nvSpPr>
        <p:spPr>
          <a:xfrm>
            <a:off x="9944100" y="43434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씀</a:t>
            </a:r>
            <a:endParaRPr lang="en-US" sz="800" dirty="0"/>
          </a:p>
        </p:txBody>
      </p:sp>
      <p:sp>
        <p:nvSpPr>
          <p:cNvPr id="92" name="노드 API 서비스"/>
          <p:cNvSpPr/>
          <p:nvPr/>
        </p:nvSpPr>
        <p:spPr>
          <a:xfrm>
            <a:off x="8979408" y="4864608"/>
            <a:ext cx="1783080" cy="2286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 wrap="square" lIns="10160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API 서비스</a:t>
            </a:r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   서비스</a:t>
            </a:r>
            <a:endParaRPr lang="en-US" sz="1000" dirty="0"/>
          </a:p>
        </p:txBody>
      </p:sp>
      <p:sp>
        <p:nvSpPr>
          <p:cNvPr id="93" name="연결선"/>
          <p:cNvSpPr/>
          <p:nvPr/>
        </p:nvSpPr>
        <p:spPr>
          <a:xfrm>
            <a:off x="9870948" y="4718304"/>
            <a:ext cx="0" cy="13716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4" name="Text 68"/>
          <p:cNvSpPr txBox="1"/>
          <p:nvPr/>
        </p:nvSpPr>
        <p:spPr>
          <a:xfrm>
            <a:off x="9944100" y="47183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읽음</a:t>
            </a:r>
            <a:endParaRPr lang="en-US" sz="800" dirty="0"/>
          </a:p>
        </p:txBody>
      </p:sp>
      <p:sp>
        <p:nvSpPr>
          <p:cNvPr id="95" name="노드 알람 현황 끝점"/>
          <p:cNvSpPr/>
          <p:nvPr/>
        </p:nvSpPr>
        <p:spPr>
          <a:xfrm>
            <a:off x="8979408" y="5239512"/>
            <a:ext cx="1783080" cy="228600"/>
          </a:xfrm>
          <a:prstGeom prst="roundRect">
            <a:avLst>
              <a:gd name="adj" fmla="val 52000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 wrap="square" lIns="101600" tIns="0" rIns="762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알람 현황 끝점</a:t>
            </a:r>
            <a:pPr algn="l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   끝점</a:t>
            </a:r>
            <a:endParaRPr lang="en-US" sz="1000" dirty="0"/>
          </a:p>
        </p:txBody>
      </p:sp>
      <p:sp>
        <p:nvSpPr>
          <p:cNvPr id="96" name="연결선"/>
          <p:cNvSpPr/>
          <p:nvPr/>
        </p:nvSpPr>
        <p:spPr>
          <a:xfrm>
            <a:off x="9870948" y="5093208"/>
            <a:ext cx="0" cy="13716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7" name="Text 71"/>
          <p:cNvSpPr txBox="1"/>
          <p:nvPr/>
        </p:nvSpPr>
        <p:spPr>
          <a:xfrm>
            <a:off x="9944100" y="50932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제공</a:t>
            </a:r>
            <a:endParaRPr lang="en-US" sz="800" dirty="0"/>
          </a:p>
        </p:txBody>
      </p:sp>
      <p:sp>
        <p:nvSpPr>
          <p:cNvPr id="98" name="곁가지 설비 상태"/>
          <p:cNvSpPr/>
          <p:nvPr/>
        </p:nvSpPr>
        <p:spPr>
          <a:xfrm>
            <a:off x="10963656" y="3749040"/>
            <a:ext cx="685800" cy="228600"/>
          </a:xfrm>
          <a:prstGeom prst="roundRect">
            <a:avLst>
              <a:gd name="adj" fmla="val 520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설비 상태</a:t>
            </a:r>
            <a:endParaRPr lang="en-US" sz="900" dirty="0"/>
          </a:p>
        </p:txBody>
      </p:sp>
      <p:sp>
        <p:nvSpPr>
          <p:cNvPr id="99" name="연결선"/>
          <p:cNvSpPr/>
          <p:nvPr/>
        </p:nvSpPr>
        <p:spPr>
          <a:xfrm>
            <a:off x="10762488" y="3479292"/>
            <a:ext cx="548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0" name="연결선"/>
          <p:cNvSpPr/>
          <p:nvPr/>
        </p:nvSpPr>
        <p:spPr>
          <a:xfrm>
            <a:off x="11311128" y="3479292"/>
            <a:ext cx="0" cy="26060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01" name="곁가지 리포트"/>
          <p:cNvSpPr/>
          <p:nvPr/>
        </p:nvSpPr>
        <p:spPr>
          <a:xfrm>
            <a:off x="8266176" y="4489704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리포트</a:t>
            </a:r>
            <a:endParaRPr lang="en-US" sz="900" dirty="0"/>
          </a:p>
        </p:txBody>
      </p:sp>
      <p:sp>
        <p:nvSpPr>
          <p:cNvPr id="102" name="연결선"/>
          <p:cNvSpPr/>
          <p:nvPr/>
        </p:nvSpPr>
        <p:spPr>
          <a:xfrm flipH="1">
            <a:off x="8851392" y="4604004"/>
            <a:ext cx="1280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03" name="흐름 지도 범례"/>
          <p:cNvSpPr/>
          <p:nvPr/>
        </p:nvSpPr>
        <p:spPr>
          <a:xfrm>
            <a:off x="8339328" y="5504688"/>
            <a:ext cx="3209544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 wrap="square" lIns="101600" tIns="254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○ 고른 끝점</a:t>
            </a:r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    □ 그 상류 3단계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끝점을 고르면 그 값을 만드는 경로가 켜진다</a:t>
            </a:r>
            <a:endParaRPr lang="en-US" sz="1200" dirty="0"/>
          </a:p>
        </p:txBody>
      </p:sp>
      <p:sp>
        <p:nvSpPr>
          <p:cNvPr id="104" name="번호 1"/>
          <p:cNvSpPr/>
          <p:nvPr/>
        </p:nvSpPr>
        <p:spPr>
          <a:xfrm>
            <a:off x="457200" y="6016752"/>
            <a:ext cx="274320" cy="274320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5" name="Text 79"/>
          <p:cNvSpPr txBox="1"/>
          <p:nvPr/>
        </p:nvSpPr>
        <p:spPr>
          <a:xfrm>
            <a:off x="822960" y="5989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조사 보고서</a:t>
            </a:r>
            <a:endParaRPr lang="en-US" sz="1400" dirty="0"/>
          </a:p>
        </p:txBody>
      </p:sp>
      <p:sp>
        <p:nvSpPr>
          <p:cNvPr id="106" name="Text 80"/>
          <p:cNvSpPr txBox="1"/>
          <p:nvPr/>
        </p:nvSpPr>
        <p:spPr>
          <a:xfrm>
            <a:off x="822960" y="62362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사건마다 · 메일로 · 예시 화면</a:t>
            </a:r>
            <a:endParaRPr lang="en-US" sz="1000" dirty="0"/>
          </a:p>
        </p:txBody>
      </p:sp>
      <p:sp>
        <p:nvSpPr>
          <p:cNvPr id="107" name="번호 2"/>
          <p:cNvSpPr/>
          <p:nvPr/>
        </p:nvSpPr>
        <p:spPr>
          <a:xfrm>
            <a:off x="4306824" y="6016752"/>
            <a:ext cx="274320" cy="274320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8" name="Text 82"/>
          <p:cNvSpPr txBox="1"/>
          <p:nvPr/>
        </p:nvSpPr>
        <p:spPr>
          <a:xfrm>
            <a:off x="4672584" y="5989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일일 알람 리포트</a:t>
            </a:r>
            <a:endParaRPr lang="en-US" sz="1400" dirty="0"/>
          </a:p>
        </p:txBody>
      </p:sp>
      <p:sp>
        <p:nvSpPr>
          <p:cNvPr id="109" name="Text 83"/>
          <p:cNvSpPr txBox="1"/>
          <p:nvPr/>
        </p:nvSpPr>
        <p:spPr>
          <a:xfrm>
            <a:off x="4672584" y="62362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매일 아침 · 28개 사이트 · 예시 화면</a:t>
            </a:r>
            <a:endParaRPr lang="en-US" sz="1000" dirty="0"/>
          </a:p>
        </p:txBody>
      </p:sp>
      <p:sp>
        <p:nvSpPr>
          <p:cNvPr id="110" name="번호 3"/>
          <p:cNvSpPr/>
          <p:nvPr/>
        </p:nvSpPr>
        <p:spPr>
          <a:xfrm>
            <a:off x="8156448" y="6016752"/>
            <a:ext cx="274320" cy="274320"/>
          </a:xfrm>
          <a:prstGeom prst="ellipse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11" name="Text 85"/>
          <p:cNvSpPr txBox="1"/>
          <p:nvPr/>
        </p:nvSpPr>
        <p:spPr>
          <a:xfrm>
            <a:off x="8522208" y="5989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데이터 흐름 지도</a:t>
            </a:r>
            <a:endParaRPr lang="en-US" sz="1400" dirty="0"/>
          </a:p>
        </p:txBody>
      </p:sp>
      <p:sp>
        <p:nvSpPr>
          <p:cNvPr id="112" name="Text 86"/>
          <p:cNvSpPr txBox="1"/>
          <p:nvPr/>
        </p:nvSpPr>
        <p:spPr>
          <a:xfrm>
            <a:off x="8522208" y="62362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필요할 때 직접 연다 · 파일 하나 · 예시 화면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규모와 확인된 사실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모든 숫자는 사내 실측 · 운영 기록 기준</a:t>
            </a:r>
            <a:endParaRPr lang="en-US" sz="1400" dirty="0"/>
          </a:p>
        </p:txBody>
      </p:sp>
      <p:sp>
        <p:nvSpPr>
          <p:cNvPr id="4" name="숫자 카드 관리 사이트"/>
          <p:cNvSpPr/>
          <p:nvPr/>
        </p:nvSpPr>
        <p:spPr>
          <a:xfrm>
            <a:off x="457200" y="1463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pic>
        <p:nvPicPr>
          <p:cNvPr id="5" name="아이콘 LuM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7360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2121408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72A"/>
                </a:solidFill>
              </a:rPr>
              <a:t>28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88950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관리 사이트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21868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사업부 4개 · 사업장마다 배포가 다르다</a:t>
            </a:r>
            <a:endParaRPr lang="en-US" sz="1200" dirty="0"/>
          </a:p>
        </p:txBody>
      </p:sp>
      <p:sp>
        <p:nvSpPr>
          <p:cNvPr id="9" name="숫자 카드 일일 알람 리포트"/>
          <p:cNvSpPr/>
          <p:nvPr/>
        </p:nvSpPr>
        <p:spPr>
          <a:xfrm>
            <a:off x="4306824" y="1463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pic>
        <p:nvPicPr>
          <p:cNvPr id="10" name="아이콘 LuMai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73736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99432" y="2121408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72A"/>
                </a:solidFill>
              </a:rPr>
              <a:t>매일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4599432" y="288950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일일 알람 리포트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321868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28개 사이트 전체를 집계해 아침마다 자동 발송</a:t>
            </a:r>
            <a:endParaRPr lang="en-US" sz="1200" dirty="0"/>
          </a:p>
        </p:txBody>
      </p:sp>
      <p:sp>
        <p:nvSpPr>
          <p:cNvPr id="14" name="숫자 카드 첫 가동일에 찾은 숨은 문제"/>
          <p:cNvSpPr/>
          <p:nvPr/>
        </p:nvSpPr>
        <p:spPr>
          <a:xfrm>
            <a:off x="8156448" y="1463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pic>
        <p:nvPicPr>
          <p:cNvPr id="15" name="아이콘 LuFla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73736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49056" y="2121408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C2626"/>
                </a:solidFill>
              </a:rPr>
              <a:t>2건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8449056" y="288950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첫 가동일에 찾은 숨은 문제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321868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자동 순찰이 첫날 실제 문제를 잡아냈다</a:t>
            </a:r>
            <a:endParaRPr lang="en-US" sz="1200" dirty="0"/>
          </a:p>
        </p:txBody>
      </p:sp>
      <p:sp>
        <p:nvSpPr>
          <p:cNvPr id="19" name="숫자 카드 읽고 연결하는 코드"/>
          <p:cNvSpPr/>
          <p:nvPr/>
        </p:nvSpPr>
        <p:spPr>
          <a:xfrm>
            <a:off x="457200" y="39776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pic>
        <p:nvPicPr>
          <p:cNvPr id="20" name="아이콘 LuCod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25196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9808" y="4636008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980 · 156</a:t>
            </a:r>
            <a:endParaRPr lang="en-US" sz="4000" dirty="0"/>
          </a:p>
        </p:txBody>
      </p:sp>
      <p:sp>
        <p:nvSpPr>
          <p:cNvPr id="22" name="Text 16"/>
          <p:cNvSpPr txBox="1"/>
          <p:nvPr/>
        </p:nvSpPr>
        <p:spPr>
          <a:xfrm>
            <a:off x="749808" y="540410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읽고 연결하는 코드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573328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코드 모듈 980개 · API 끝점 156개 (사내 코드로 측정)</a:t>
            </a:r>
            <a:endParaRPr lang="en-US" sz="1200" dirty="0"/>
          </a:p>
        </p:txBody>
      </p:sp>
      <p:sp>
        <p:nvSpPr>
          <p:cNvPr id="24" name="숫자 카드 실데이터 집계 검증 규모(건)"/>
          <p:cNvSpPr/>
          <p:nvPr/>
        </p:nvSpPr>
        <p:spPr>
          <a:xfrm>
            <a:off x="4306824" y="39776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pic>
        <p:nvPicPr>
          <p:cNvPr id="25" name="아이콘 LuChartColum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251960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99432" y="4636008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54,001</a:t>
            </a:r>
            <a:endParaRPr lang="en-US" sz="4000" dirty="0"/>
          </a:p>
        </p:txBody>
      </p:sp>
      <p:sp>
        <p:nvSpPr>
          <p:cNvPr id="27" name="Text 20"/>
          <p:cNvSpPr txBox="1"/>
          <p:nvPr/>
        </p:nvSpPr>
        <p:spPr>
          <a:xfrm>
            <a:off x="4599432" y="540410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실데이터 집계 검증 규모(건)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573328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일일 리포트를 사내 실제 데이터로 끝까지 돌려 확인했다</a:t>
            </a:r>
            <a:endParaRPr lang="en-US" sz="1200" dirty="0"/>
          </a:p>
        </p:txBody>
      </p:sp>
      <p:sp>
        <p:nvSpPr>
          <p:cNvPr id="29" name="숫자 카드 대상 시스템에 쓰는 기능"/>
          <p:cNvSpPr/>
          <p:nvPr/>
        </p:nvSpPr>
        <p:spPr>
          <a:xfrm>
            <a:off x="8156448" y="39776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30" name="아이콘 LuLo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251960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49056" y="4636008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75569"/>
                </a:solidFill>
              </a:rPr>
              <a:t>0</a:t>
            </a:r>
            <a:endParaRPr lang="en-US" sz="4800" dirty="0"/>
          </a:p>
        </p:txBody>
      </p:sp>
      <p:sp>
        <p:nvSpPr>
          <p:cNvPr id="32" name="Text 24"/>
          <p:cNvSpPr txBox="1"/>
          <p:nvPr/>
        </p:nvSpPr>
        <p:spPr>
          <a:xfrm>
            <a:off x="8449056" y="5404104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대상 시스템에 쓰는 기능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573328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읽기 전용 — 고치는 기능이 애초에 없다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완성 모습과 다음 비전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완성은 ‘돌아간다’가 아니라 ‘얼마나 맞히는지 숫자가 있다’에서 끝난다</a:t>
            </a:r>
            <a:endParaRPr lang="en-US" sz="1400" dirty="0"/>
          </a:p>
        </p:txBody>
      </p:sp>
      <p:sp>
        <p:nvSpPr>
          <p:cNvPr id="4" name="완성 모습 구역"/>
          <p:cNvSpPr/>
          <p:nvPr/>
        </p:nvSpPr>
        <p:spPr>
          <a:xfrm>
            <a:off x="457200" y="1417320"/>
            <a:ext cx="7223760" cy="4160520"/>
          </a:xfrm>
          <a:prstGeom prst="roundRect">
            <a:avLst>
              <a:gd name="adj" fmla="val 3516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완성 모습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로드맵 1–15단계</a:t>
            </a:r>
            <a:endParaRPr lang="en-US" sz="1200" dirty="0"/>
          </a:p>
        </p:txBody>
      </p:sp>
      <p:sp>
        <p:nvSpPr>
          <p:cNvPr id="6" name="다음 비전 구역"/>
          <p:cNvSpPr/>
          <p:nvPr/>
        </p:nvSpPr>
        <p:spPr>
          <a:xfrm>
            <a:off x="7863840" y="1417320"/>
            <a:ext cx="3867912" cy="4160520"/>
          </a:xfrm>
          <a:prstGeom prst="roundRect">
            <a:avLst>
              <a:gd name="adj" fmla="val 3783"/>
            </a:avLst>
          </a:prstGeom>
          <a:solidFill>
            <a:srgbClr val="F8FBFF"/>
          </a:solidFill>
          <a:ln w="15875">
            <a:solidFill>
              <a:srgbClr val="2563E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092440" y="1536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0AF"/>
                </a:solidFill>
              </a:rPr>
              <a:t>다음 비전</a:t>
            </a:r>
            <a:endParaRPr lang="en-US" sz="1600" dirty="0"/>
          </a:p>
        </p:txBody>
      </p:sp>
      <p:sp>
        <p:nvSpPr>
          <p:cNvPr id="8" name="축"/>
          <p:cNvSpPr/>
          <p:nvPr/>
        </p:nvSpPr>
        <p:spPr>
          <a:xfrm>
            <a:off x="594360" y="3611880"/>
            <a:ext cx="7040880" cy="0"/>
          </a:xfrm>
          <a:prstGeom prst="line">
            <a:avLst/>
          </a:prstGeom>
          <a:noFill/>
          <a:ln w="38100">
            <a:solidFill>
              <a:srgbClr val="0F172A"/>
            </a:solidFill>
            <a:prstDash val="solid"/>
          </a:ln>
        </p:spPr>
      </p:sp>
      <p:sp>
        <p:nvSpPr>
          <p:cNvPr id="9" name="비전 축"/>
          <p:cNvSpPr/>
          <p:nvPr/>
        </p:nvSpPr>
        <p:spPr>
          <a:xfrm>
            <a:off x="7909560" y="3611880"/>
            <a:ext cx="37490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dash"/>
            <a:tailEnd type="triangle"/>
          </a:ln>
        </p:spPr>
      </p:sp>
      <p:sp>
        <p:nvSpPr>
          <p:cNvPr id="10" name="로드맵 일일 알람 리포트"/>
          <p:cNvSpPr/>
          <p:nvPr/>
        </p:nvSpPr>
        <p:spPr>
          <a:xfrm>
            <a:off x="594360" y="20116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일일 알람 리포트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28개 사이트를 매일 집계해 아침마다 메일로</a:t>
            </a:r>
            <a:endParaRPr lang="en-US" sz="1200" dirty="0"/>
          </a:p>
        </p:txBody>
      </p:sp>
      <p:sp>
        <p:nvSpPr>
          <p:cNvPr id="11" name="연결선"/>
          <p:cNvSpPr/>
          <p:nvPr/>
        </p:nvSpPr>
        <p:spPr>
          <a:xfrm>
            <a:off x="1554480" y="3063240"/>
            <a:ext cx="0" cy="37490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2" name="마일스톤 1"/>
          <p:cNvSpPr/>
          <p:nvPr/>
        </p:nvSpPr>
        <p:spPr>
          <a:xfrm>
            <a:off x="1380744" y="3438144"/>
            <a:ext cx="347472" cy="347472"/>
          </a:xfrm>
          <a:prstGeom prst="ellipse">
            <a:avLst/>
          </a:prstGeom>
          <a:solidFill>
            <a:srgbClr val="0F172A"/>
          </a:solidFill>
          <a:ln w="22225">
            <a:solidFill>
              <a:srgbClr val="0F17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로드맵 자동 탐지"/>
          <p:cNvSpPr/>
          <p:nvPr/>
        </p:nvSpPr>
        <p:spPr>
          <a:xfrm>
            <a:off x="1600200" y="41605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자동 탐지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정기 순찰로 이상을 찾고 같은 문제는 한 사건으로</a:t>
            </a:r>
            <a:endParaRPr lang="en-US" sz="1200" dirty="0"/>
          </a:p>
        </p:txBody>
      </p:sp>
      <p:sp>
        <p:nvSpPr>
          <p:cNvPr id="14" name="연결선"/>
          <p:cNvSpPr/>
          <p:nvPr/>
        </p:nvSpPr>
        <p:spPr>
          <a:xfrm>
            <a:off x="2560320" y="3785616"/>
            <a:ext cx="0" cy="37490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5" name="마일스톤 2"/>
          <p:cNvSpPr/>
          <p:nvPr/>
        </p:nvSpPr>
        <p:spPr>
          <a:xfrm>
            <a:off x="2386584" y="3438144"/>
            <a:ext cx="347472" cy="347472"/>
          </a:xfrm>
          <a:prstGeom prst="ellipse">
            <a:avLst/>
          </a:prstGeom>
          <a:solidFill>
            <a:srgbClr val="0F172A"/>
          </a:solidFill>
          <a:ln w="22225">
            <a:solidFill>
              <a:srgbClr val="0F17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로드맵 AI 조사"/>
          <p:cNvSpPr/>
          <p:nvPr/>
        </p:nvSpPr>
        <p:spPr>
          <a:xfrm>
            <a:off x="2606040" y="20116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조사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데이터·코드·재계산으로 원인을 거슬러 추적</a:t>
            </a:r>
            <a:endParaRPr lang="en-US" sz="1200" dirty="0"/>
          </a:p>
        </p:txBody>
      </p:sp>
      <p:sp>
        <p:nvSpPr>
          <p:cNvPr id="17" name="연결선"/>
          <p:cNvSpPr/>
          <p:nvPr/>
        </p:nvSpPr>
        <p:spPr>
          <a:xfrm>
            <a:off x="3566160" y="3063240"/>
            <a:ext cx="0" cy="37490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8" name="마일스톤 3"/>
          <p:cNvSpPr/>
          <p:nvPr/>
        </p:nvSpPr>
        <p:spPr>
          <a:xfrm>
            <a:off x="3392424" y="3438144"/>
            <a:ext cx="347472" cy="347472"/>
          </a:xfrm>
          <a:prstGeom prst="ellipse">
            <a:avLst/>
          </a:prstGeom>
          <a:solidFill>
            <a:srgbClr val="0F172A"/>
          </a:solidFill>
          <a:ln w="22225">
            <a:solidFill>
              <a:srgbClr val="0F17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로드맵 판정 · 보고"/>
          <p:cNvSpPr/>
          <p:nvPr/>
        </p:nvSpPr>
        <p:spPr>
          <a:xfrm>
            <a:off x="3611880" y="41605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판정 · 보고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근거 검증을 거친 결론을 보고서로 전달</a:t>
            </a:r>
            <a:endParaRPr lang="en-US" sz="1200" dirty="0"/>
          </a:p>
        </p:txBody>
      </p:sp>
      <p:sp>
        <p:nvSpPr>
          <p:cNvPr id="20" name="연결선"/>
          <p:cNvSpPr/>
          <p:nvPr/>
        </p:nvSpPr>
        <p:spPr>
          <a:xfrm>
            <a:off x="4572000" y="3785616"/>
            <a:ext cx="0" cy="37490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1" name="마일스톤 4"/>
          <p:cNvSpPr/>
          <p:nvPr/>
        </p:nvSpPr>
        <p:spPr>
          <a:xfrm>
            <a:off x="4398264" y="3438144"/>
            <a:ext cx="347472" cy="347472"/>
          </a:xfrm>
          <a:prstGeom prst="ellipse">
            <a:avLst/>
          </a:prstGeom>
          <a:solidFill>
            <a:srgbClr val="0F172A"/>
          </a:solidFill>
          <a:ln w="22225">
            <a:solidFill>
              <a:srgbClr val="0F17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로드맵 사람과 문답"/>
          <p:cNvSpPr/>
          <p:nvPr/>
        </p:nvSpPr>
        <p:spPr>
          <a:xfrm>
            <a:off x="4617720" y="20116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사람과 문답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조사 중 필요한 것을 묻고 답을 받아 이어 간다</a:t>
            </a:r>
            <a:endParaRPr lang="en-US" sz="1200" dirty="0"/>
          </a:p>
        </p:txBody>
      </p:sp>
      <p:sp>
        <p:nvSpPr>
          <p:cNvPr id="23" name="연결선"/>
          <p:cNvSpPr/>
          <p:nvPr/>
        </p:nvSpPr>
        <p:spPr>
          <a:xfrm>
            <a:off x="5577840" y="3063240"/>
            <a:ext cx="0" cy="37490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4" name="마일스톤 5"/>
          <p:cNvSpPr/>
          <p:nvPr/>
        </p:nvSpPr>
        <p:spPr>
          <a:xfrm>
            <a:off x="5404104" y="3438144"/>
            <a:ext cx="347472" cy="347472"/>
          </a:xfrm>
          <a:prstGeom prst="ellipse">
            <a:avLst/>
          </a:prstGeom>
          <a:solidFill>
            <a:srgbClr val="0F172A"/>
          </a:solidFill>
          <a:ln w="22225">
            <a:solidFill>
              <a:srgbClr val="0F17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로드맵 운영 · 정확도 측정"/>
          <p:cNvSpPr/>
          <p:nvPr/>
        </p:nvSpPr>
        <p:spPr>
          <a:xfrm>
            <a:off x="5623560" y="41605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운영 · 정확도 측정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사람이 안 불러도 돌고, 실제 원인과 맞는지 잰다</a:t>
            </a:r>
            <a:endParaRPr lang="en-US" sz="1200" dirty="0"/>
          </a:p>
        </p:txBody>
      </p:sp>
      <p:sp>
        <p:nvSpPr>
          <p:cNvPr id="26" name="연결선"/>
          <p:cNvSpPr/>
          <p:nvPr/>
        </p:nvSpPr>
        <p:spPr>
          <a:xfrm>
            <a:off x="6583680" y="3785616"/>
            <a:ext cx="0" cy="37490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7" name="마일스톤 6"/>
          <p:cNvSpPr/>
          <p:nvPr/>
        </p:nvSpPr>
        <p:spPr>
          <a:xfrm>
            <a:off x="6409944" y="3438144"/>
            <a:ext cx="347472" cy="347472"/>
          </a:xfrm>
          <a:prstGeom prst="ellipse">
            <a:avLst/>
          </a:prstGeom>
          <a:solidFill>
            <a:srgbClr val="0F172A"/>
          </a:solidFill>
          <a:ln w="22225">
            <a:solidFill>
              <a:srgbClr val="0F17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로드맵 웹 질의 창구"/>
          <p:cNvSpPr/>
          <p:nvPr/>
        </p:nvSpPr>
        <p:spPr>
          <a:xfrm>
            <a:off x="7978140" y="20116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dash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웹 질의 창구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웹에서 묻고, 진행을 보며 원인 후보를 받는다</a:t>
            </a:r>
            <a:endParaRPr lang="en-US" sz="1200" dirty="0"/>
          </a:p>
        </p:txBody>
      </p:sp>
      <p:sp>
        <p:nvSpPr>
          <p:cNvPr id="29" name="연결선"/>
          <p:cNvSpPr/>
          <p:nvPr/>
        </p:nvSpPr>
        <p:spPr>
          <a:xfrm>
            <a:off x="8869680" y="3063240"/>
            <a:ext cx="0" cy="37490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30" name="마일스톤 V1"/>
          <p:cNvSpPr/>
          <p:nvPr/>
        </p:nvSpPr>
        <p:spPr>
          <a:xfrm>
            <a:off x="8695944" y="3438144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V1</a:t>
            </a:r>
            <a:endParaRPr lang="en-US" sz="1100" dirty="0"/>
          </a:p>
        </p:txBody>
      </p:sp>
      <p:sp>
        <p:nvSpPr>
          <p:cNvPr id="31" name="로드맵 학습 루프"/>
          <p:cNvSpPr/>
          <p:nvPr/>
        </p:nvSpPr>
        <p:spPr>
          <a:xfrm>
            <a:off x="8910828" y="41605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dash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학습 루프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실제 원인을 기록해 정확도를 재고 다음 조사에 쓴다</a:t>
            </a:r>
            <a:endParaRPr lang="en-US" sz="1200" dirty="0"/>
          </a:p>
        </p:txBody>
      </p:sp>
      <p:sp>
        <p:nvSpPr>
          <p:cNvPr id="32" name="연결선"/>
          <p:cNvSpPr/>
          <p:nvPr/>
        </p:nvSpPr>
        <p:spPr>
          <a:xfrm>
            <a:off x="9802368" y="3785616"/>
            <a:ext cx="0" cy="37490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33" name="마일스톤 V2"/>
          <p:cNvSpPr/>
          <p:nvPr/>
        </p:nvSpPr>
        <p:spPr>
          <a:xfrm>
            <a:off x="9628632" y="3438144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V2</a:t>
            </a:r>
            <a:endParaRPr lang="en-US" sz="1100" dirty="0"/>
          </a:p>
        </p:txBody>
      </p:sp>
      <p:sp>
        <p:nvSpPr>
          <p:cNvPr id="34" name="로드맵 조사 범위 확장"/>
          <p:cNvSpPr/>
          <p:nvPr/>
        </p:nvSpPr>
        <p:spPr>
          <a:xfrm>
            <a:off x="9843516" y="20116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dash"/>
          </a:ln>
        </p:spPr>
        <p:txBody>
          <a:bodyPr wrap="square" lIns="127000" tIns="1016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조사 범위 확장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로그·지표 읽기, 여러 사이트 공통 장애 묶기</a:t>
            </a:r>
            <a:endParaRPr lang="en-US" sz="1200" dirty="0"/>
          </a:p>
        </p:txBody>
      </p:sp>
      <p:sp>
        <p:nvSpPr>
          <p:cNvPr id="35" name="연결선"/>
          <p:cNvSpPr/>
          <p:nvPr/>
        </p:nvSpPr>
        <p:spPr>
          <a:xfrm>
            <a:off x="10735056" y="3063240"/>
            <a:ext cx="0" cy="37490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36" name="마일스톤 V3"/>
          <p:cNvSpPr/>
          <p:nvPr/>
        </p:nvSpPr>
        <p:spPr>
          <a:xfrm>
            <a:off x="10561320" y="3438144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563EB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V3</a:t>
            </a:r>
            <a:endParaRPr lang="en-US" sz="1100" dirty="0"/>
          </a:p>
        </p:txBody>
      </p:sp>
      <p:sp>
        <p:nvSpPr>
          <p:cNvPr id="37" name="변하지 않는 것"/>
          <p:cNvSpPr/>
          <p:nvPr/>
        </p:nvSpPr>
        <p:spPr>
          <a:xfrm>
            <a:off x="457200" y="5760720"/>
            <a:ext cx="11274552" cy="621792"/>
          </a:xfrm>
          <a:prstGeom prst="roundRect">
            <a:avLst>
              <a:gd name="adj" fmla="val 20588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pic>
        <p:nvPicPr>
          <p:cNvPr id="38" name="아이콘 Lu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916168"/>
            <a:ext cx="310896" cy="310896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188720" y="5833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모든 단계에서 그대로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188720" y="6035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읽기 전용  ·  조치는 사람이  ·  근거 없는 결론은 내지 않는다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다음 비전 ① 웹에서 묻고, 근거와 함께 답을 받는다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질문을 말로 하면 진행을 보여 주고, 원인 후보를 근거와 함께 돌려준다 (화면 목업)</a:t>
            </a:r>
            <a:endParaRPr lang="en-US" sz="1400" dirty="0"/>
          </a:p>
        </p:txBody>
      </p:sp>
      <p:sp>
        <p:nvSpPr>
          <p:cNvPr id="4" name="창 틀"/>
          <p:cNvSpPr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제목 표시줄"/>
          <p:cNvSpPr/>
          <p:nvPr/>
        </p:nvSpPr>
        <p:spPr>
          <a:xfrm>
            <a:off x="466344" y="1380744"/>
            <a:ext cx="11256264" cy="310896"/>
          </a:xfrm>
          <a:prstGeom prst="rect">
            <a:avLst/>
          </a:prstGeom>
          <a:solidFill>
            <a:srgbClr val="F3F3F3"/>
          </a:solidFill>
          <a:ln/>
        </p:spPr>
      </p:sp>
      <p:pic>
        <p:nvPicPr>
          <p:cNvPr id="6" name="최소화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64" y="1463040"/>
            <a:ext cx="128016" cy="128016"/>
          </a:xfrm>
          <a:prstGeom prst="rect">
            <a:avLst/>
          </a:prstGeom>
        </p:spPr>
      </p:pic>
      <p:pic>
        <p:nvPicPr>
          <p:cNvPr id="7" name="최대화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248" y="1472184"/>
            <a:ext cx="109728" cy="109728"/>
          </a:xfrm>
          <a:prstGeom prst="rect">
            <a:avLst/>
          </a:prstGeom>
        </p:spPr>
      </p:pic>
      <p:pic>
        <p:nvPicPr>
          <p:cNvPr id="8" name="닫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7432" y="1463040"/>
            <a:ext cx="128016" cy="128016"/>
          </a:xfrm>
          <a:prstGeom prst="rect">
            <a:avLst/>
          </a:prstGeom>
        </p:spPr>
      </p:pic>
      <p:sp>
        <p:nvSpPr>
          <p:cNvPr id="9" name="활성 탭"/>
          <p:cNvSpPr/>
          <p:nvPr/>
        </p:nvSpPr>
        <p:spPr>
          <a:xfrm>
            <a:off x="548640" y="1426464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</p:sp>
      <p:pic>
        <p:nvPicPr>
          <p:cNvPr id="10" name="탭 아이콘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81328"/>
            <a:ext cx="137160" cy="1371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41248" y="146304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사건 문의 - 운영 모니터링</a:t>
            </a:r>
            <a:endParaRPr lang="en-US" sz="1000" dirty="0"/>
          </a:p>
        </p:txBody>
      </p:sp>
      <p:pic>
        <p:nvPicPr>
          <p:cNvPr id="12" name="탭 닫기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232" y="1490472"/>
            <a:ext cx="100584" cy="100584"/>
          </a:xfrm>
          <a:prstGeom prst="rect">
            <a:avLst/>
          </a:prstGeom>
        </p:spPr>
      </p:pic>
      <p:pic>
        <p:nvPicPr>
          <p:cNvPr id="13" name="새 탭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1481328"/>
            <a:ext cx="128016" cy="128016"/>
          </a:xfrm>
          <a:prstGeom prst="rect">
            <a:avLst/>
          </a:prstGeom>
        </p:spPr>
      </p:pic>
      <p:sp>
        <p:nvSpPr>
          <p:cNvPr id="14" name="주소 표시줄 줄"/>
          <p:cNvSpPr/>
          <p:nvPr/>
        </p:nvSpPr>
        <p:spPr>
          <a:xfrm>
            <a:off x="466344" y="1691640"/>
            <a:ext cx="11256264" cy="32918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뒤로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783080"/>
            <a:ext cx="146304" cy="146304"/>
          </a:xfrm>
          <a:prstGeom prst="rect">
            <a:avLst/>
          </a:prstGeom>
        </p:spPr>
      </p:pic>
      <p:pic>
        <p:nvPicPr>
          <p:cNvPr id="16" name="앞으로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1783080"/>
            <a:ext cx="146304" cy="146304"/>
          </a:xfrm>
          <a:prstGeom prst="rect">
            <a:avLst/>
          </a:prstGeom>
        </p:spPr>
      </p:pic>
      <p:pic>
        <p:nvPicPr>
          <p:cNvPr id="17" name="새로고침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4" y="1783080"/>
            <a:ext cx="146304" cy="146304"/>
          </a:xfrm>
          <a:prstGeom prst="rect">
            <a:avLst/>
          </a:prstGeom>
        </p:spPr>
      </p:pic>
      <p:sp>
        <p:nvSpPr>
          <p:cNvPr id="18" name="주소"/>
          <p:cNvSpPr/>
          <p:nvPr/>
        </p:nvSpPr>
        <p:spPr>
          <a:xfrm>
            <a:off x="1371600" y="1728216"/>
            <a:ext cx="6949440" cy="23774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/>
        </p:spPr>
        <p:txBody>
          <a:bodyPr wrap="square" lIns="127000" tIns="0" rIns="7620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https://ops-agent/cases/c-31</a:t>
            </a:r>
            <a:endParaRPr lang="en-US" sz="1000" dirty="0"/>
          </a:p>
        </p:txBody>
      </p:sp>
      <p:sp>
        <p:nvSpPr>
          <p:cNvPr id="19" name="이름표 비전 · 화면 목업"/>
          <p:cNvSpPr/>
          <p:nvPr/>
        </p:nvSpPr>
        <p:spPr>
          <a:xfrm>
            <a:off x="10058908" y="1726438"/>
            <a:ext cx="1370584" cy="2413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비전 · 화면 목업</a:t>
            </a:r>
            <a:endParaRPr lang="en-US" sz="1000" dirty="0"/>
          </a:p>
        </p:txBody>
      </p:sp>
      <p:sp>
        <p:nvSpPr>
          <p:cNvPr id="20" name="구분선"/>
          <p:cNvSpPr/>
          <p:nvPr/>
        </p:nvSpPr>
        <p:spPr>
          <a:xfrm>
            <a:off x="457200" y="2020824"/>
            <a:ext cx="11274552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21" name="Text 10"/>
          <p:cNvSpPr txBox="1"/>
          <p:nvPr/>
        </p:nvSpPr>
        <p:spPr>
          <a:xfrm>
            <a:off x="685800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새 문의</a:t>
            </a:r>
            <a:endParaRPr lang="en-US" sz="1500" dirty="0"/>
          </a:p>
        </p:txBody>
      </p:sp>
      <p:sp>
        <p:nvSpPr>
          <p:cNvPr id="22" name="칩 사업부 A"/>
          <p:cNvSpPr/>
          <p:nvPr/>
        </p:nvSpPr>
        <p:spPr>
          <a:xfrm>
            <a:off x="1600200" y="2194560"/>
            <a:ext cx="664972" cy="222250"/>
          </a:xfrm>
          <a:prstGeom prst="roundRect">
            <a:avLst>
              <a:gd name="adj" fmla="val 1645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사업부 A</a:t>
            </a:r>
            <a:endParaRPr lang="en-US" sz="1000" dirty="0"/>
          </a:p>
        </p:txBody>
      </p:sp>
      <p:sp>
        <p:nvSpPr>
          <p:cNvPr id="23" name="칩 사업장 1"/>
          <p:cNvSpPr/>
          <p:nvPr/>
        </p:nvSpPr>
        <p:spPr>
          <a:xfrm>
            <a:off x="2338324" y="2194560"/>
            <a:ext cx="664972" cy="222250"/>
          </a:xfrm>
          <a:prstGeom prst="roundRect">
            <a:avLst>
              <a:gd name="adj" fmla="val 1645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사업장 1</a:t>
            </a:r>
            <a:endParaRPr lang="en-US" sz="1000" dirty="0"/>
          </a:p>
        </p:txBody>
      </p:sp>
      <p:sp>
        <p:nvSpPr>
          <p:cNvPr id="24" name="Text 13"/>
          <p:cNvSpPr txBox="1"/>
          <p:nvPr/>
        </p:nvSpPr>
        <p:spPr>
          <a:xfrm>
            <a:off x="3094736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질문에서 찾음</a:t>
            </a:r>
            <a:endParaRPr lang="en-US" sz="1000" dirty="0"/>
          </a:p>
        </p:txBody>
      </p:sp>
      <p:sp>
        <p:nvSpPr>
          <p:cNvPr id="25" name="질문"/>
          <p:cNvSpPr/>
          <p:nvPr/>
        </p:nvSpPr>
        <p:spPr>
          <a:xfrm>
            <a:off x="1417320" y="2578608"/>
            <a:ext cx="3108960" cy="512064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152400" tIns="50800" rIns="1270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우리 사업부에 데이터는 있는데 왜 운영 시스템에는 안 나오지?</a:t>
            </a:r>
            <a:endParaRPr lang="en-US" sz="1100" dirty="0"/>
          </a:p>
        </p:txBody>
      </p:sp>
      <p:pic>
        <p:nvPicPr>
          <p:cNvPr id="26" name="아이콘 LuUser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288" y="2615184"/>
            <a:ext cx="219456" cy="219456"/>
          </a:xfrm>
          <a:prstGeom prst="rect">
            <a:avLst/>
          </a:prstGeom>
        </p:spPr>
      </p:pic>
      <p:sp>
        <p:nvSpPr>
          <p:cNvPr id="27" name="되묻기"/>
          <p:cNvSpPr/>
          <p:nvPr/>
        </p:nvSpPr>
        <p:spPr>
          <a:xfrm>
            <a:off x="960120" y="3182112"/>
            <a:ext cx="2971800" cy="4572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52400" tIns="50800" rIns="1270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어느 화면의 어떤 값인가요? 언제부터 그랬나요?</a:t>
            </a:r>
            <a:endParaRPr lang="en-US" sz="1100" dirty="0"/>
          </a:p>
        </p:txBody>
      </p:sp>
      <p:pic>
        <p:nvPicPr>
          <p:cNvPr id="28" name="아이콘 LuSparkles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218688"/>
            <a:ext cx="219456" cy="219456"/>
          </a:xfrm>
          <a:prstGeom prst="rect">
            <a:avLst/>
          </a:prstGeom>
        </p:spPr>
      </p:pic>
      <p:sp>
        <p:nvSpPr>
          <p:cNvPr id="29" name="답"/>
          <p:cNvSpPr/>
          <p:nvPr/>
        </p:nvSpPr>
        <p:spPr>
          <a:xfrm>
            <a:off x="1691640" y="3730752"/>
            <a:ext cx="2834640" cy="329184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152400" tIns="0" rIns="1270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알람 현황 화면, 오늘 아침부터 0이에요</a:t>
            </a:r>
            <a:endParaRPr lang="en-US" sz="1100" dirty="0"/>
          </a:p>
        </p:txBody>
      </p:sp>
      <p:pic>
        <p:nvPicPr>
          <p:cNvPr id="30" name="아이콘 LuUser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0288" y="3785616"/>
            <a:ext cx="219456" cy="219456"/>
          </a:xfrm>
          <a:prstGeom prst="rect">
            <a:avLst/>
          </a:prstGeom>
        </p:spPr>
      </p:pic>
      <p:sp>
        <p:nvSpPr>
          <p:cNvPr id="31" name="칩 사건 c-31 접수"/>
          <p:cNvSpPr/>
          <p:nvPr/>
        </p:nvSpPr>
        <p:spPr>
          <a:xfrm>
            <a:off x="685800" y="4169664"/>
            <a:ext cx="1033272" cy="222250"/>
          </a:xfrm>
          <a:prstGeom prst="roundRect">
            <a:avLst>
              <a:gd name="adj" fmla="val 16457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사건 c-31 접수</a:t>
            </a:r>
            <a:endParaRPr lang="en-US" sz="1000" dirty="0"/>
          </a:p>
        </p:txBody>
      </p:sp>
      <p:sp>
        <p:nvSpPr>
          <p:cNvPr id="32" name="진행 상황 틀"/>
          <p:cNvSpPr/>
          <p:nvPr/>
        </p:nvSpPr>
        <p:spPr>
          <a:xfrm>
            <a:off x="685800" y="45262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33" name="Text 19"/>
          <p:cNvSpPr txBox="1"/>
          <p:nvPr/>
        </p:nvSpPr>
        <p:spPr>
          <a:xfrm>
            <a:off x="868680" y="4617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진행 상황</a:t>
            </a:r>
            <a:endParaRPr lang="en-US" sz="1300" dirty="0"/>
          </a:p>
        </p:txBody>
      </p:sp>
      <p:sp>
        <p:nvSpPr>
          <p:cNvPr id="34" name="이름표 실시간 표시"/>
          <p:cNvSpPr/>
          <p:nvPr/>
        </p:nvSpPr>
        <p:spPr>
          <a:xfrm>
            <a:off x="1890776" y="4625086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실시간 표시</a:t>
            </a:r>
            <a:endParaRPr lang="en-US" sz="1000" dirty="0"/>
          </a:p>
        </p:txBody>
      </p:sp>
      <p:sp>
        <p:nvSpPr>
          <p:cNvPr id="35" name="완료 표시"/>
          <p:cNvSpPr/>
          <p:nvPr/>
        </p:nvSpPr>
        <p:spPr>
          <a:xfrm>
            <a:off x="868680" y="5029200"/>
            <a:ext cx="237744" cy="237744"/>
          </a:xfrm>
          <a:prstGeom prst="ellipse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36" name="아이콘 LuCheck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5074920"/>
            <a:ext cx="146304" cy="146304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1179576" y="5056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접수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사이트·증상 확정</a:t>
            </a:r>
            <a:endParaRPr lang="en-US" sz="1200" dirty="0"/>
          </a:p>
        </p:txBody>
      </p:sp>
      <p:sp>
        <p:nvSpPr>
          <p:cNvPr id="38" name="완료 표시"/>
          <p:cNvSpPr/>
          <p:nvPr/>
        </p:nvSpPr>
        <p:spPr>
          <a:xfrm>
            <a:off x="868680" y="5413248"/>
            <a:ext cx="237744" cy="237744"/>
          </a:xfrm>
          <a:prstGeom prst="ellipse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39" name="아이콘 LuCheck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5458968"/>
            <a:ext cx="146304" cy="146304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1179576" y="54406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가설 수립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3건</a:t>
            </a:r>
            <a:endParaRPr lang="en-US" sz="1200" dirty="0"/>
          </a:p>
        </p:txBody>
      </p:sp>
      <p:sp>
        <p:nvSpPr>
          <p:cNvPr id="41" name="완료 표시"/>
          <p:cNvSpPr/>
          <p:nvPr/>
        </p:nvSpPr>
        <p:spPr>
          <a:xfrm>
            <a:off x="868680" y="5797296"/>
            <a:ext cx="237744" cy="237744"/>
          </a:xfrm>
          <a:prstGeom prst="ellipse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42" name="아이콘 LuCheck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5843016"/>
            <a:ext cx="146304" cy="146304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1179576" y="58247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1차 조사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조회 3건</a:t>
            </a:r>
            <a:endParaRPr lang="en-US" sz="1200" dirty="0"/>
          </a:p>
        </p:txBody>
      </p:sp>
      <p:sp>
        <p:nvSpPr>
          <p:cNvPr id="44" name="완료 표시"/>
          <p:cNvSpPr/>
          <p:nvPr/>
        </p:nvSpPr>
        <p:spPr>
          <a:xfrm>
            <a:off x="2880360" y="5029200"/>
            <a:ext cx="237744" cy="237744"/>
          </a:xfrm>
          <a:prstGeom prst="ellipse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45" name="아이콘 LuCheck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6080" y="5074920"/>
            <a:ext cx="146304" cy="146304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3191256" y="5056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2차 조사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조회 2건</a:t>
            </a:r>
            <a:endParaRPr lang="en-US" sz="1200" dirty="0"/>
          </a:p>
        </p:txBody>
      </p:sp>
      <p:sp>
        <p:nvSpPr>
          <p:cNvPr id="47" name="완료 표시"/>
          <p:cNvSpPr/>
          <p:nvPr/>
        </p:nvSpPr>
        <p:spPr>
          <a:xfrm>
            <a:off x="2880360" y="5413248"/>
            <a:ext cx="237744" cy="237744"/>
          </a:xfrm>
          <a:prstGeom prst="ellipse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48" name="아이콘 LuCheck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6080" y="5458968"/>
            <a:ext cx="146304" cy="146304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3191256" y="54406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판정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원인 후보 2개</a:t>
            </a:r>
            <a:endParaRPr lang="en-US" sz="1200" dirty="0"/>
          </a:p>
        </p:txBody>
      </p:sp>
      <p:sp>
        <p:nvSpPr>
          <p:cNvPr id="50" name="완료 표시"/>
          <p:cNvSpPr/>
          <p:nvPr/>
        </p:nvSpPr>
        <p:spPr>
          <a:xfrm>
            <a:off x="2880360" y="5797296"/>
            <a:ext cx="237744" cy="237744"/>
          </a:xfrm>
          <a:prstGeom prst="ellipse">
            <a:avLst/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51" name="아이콘 LuCheck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26080" y="5843016"/>
            <a:ext cx="146304" cy="146304"/>
          </a:xfrm>
          <a:prstGeom prst="rect">
            <a:avLst/>
          </a:prstGeom>
        </p:spPr>
      </p:pic>
      <p:sp>
        <p:nvSpPr>
          <p:cNvPr id="52" name="Text 32"/>
          <p:cNvSpPr txBox="1"/>
          <p:nvPr/>
        </p:nvSpPr>
        <p:spPr>
          <a:xfrm>
            <a:off x="3191256" y="58247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근거 검증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  통과</a:t>
            </a:r>
            <a:endParaRPr lang="en-US" sz="1200" dirty="0"/>
          </a:p>
        </p:txBody>
      </p:sp>
      <p:sp>
        <p:nvSpPr>
          <p:cNvPr id="53" name="결과 틀"/>
          <p:cNvSpPr/>
          <p:nvPr/>
        </p:nvSpPr>
        <p:spPr>
          <a:xfrm>
            <a:off x="5120640" y="2157984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4" name="Text 34"/>
          <p:cNvSpPr txBox="1"/>
          <p:nvPr/>
        </p:nvSpPr>
        <p:spPr>
          <a:xfrm>
            <a:off x="530352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원인 후보</a:t>
            </a:r>
            <a:endParaRPr lang="en-US" sz="1500" dirty="0"/>
          </a:p>
        </p:txBody>
      </p:sp>
      <p:sp>
        <p:nvSpPr>
          <p:cNvPr id="55" name="칩 근거 검증 통과"/>
          <p:cNvSpPr/>
          <p:nvPr/>
        </p:nvSpPr>
        <p:spPr>
          <a:xfrm>
            <a:off x="10195560" y="2286000"/>
            <a:ext cx="1002792" cy="222250"/>
          </a:xfrm>
          <a:prstGeom prst="roundRect">
            <a:avLst>
              <a:gd name="adj" fmla="val 16457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근거 검증 통과</a:t>
            </a:r>
            <a:endParaRPr lang="en-US" sz="1000" dirty="0"/>
          </a:p>
        </p:txBody>
      </p:sp>
      <p:sp>
        <p:nvSpPr>
          <p:cNvPr id="56" name="후보 1"/>
          <p:cNvSpPr/>
          <p:nvPr/>
        </p:nvSpPr>
        <p:spPr>
          <a:xfrm>
            <a:off x="5303520" y="2615184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7" name="순위"/>
          <p:cNvSpPr/>
          <p:nvPr/>
        </p:nvSpPr>
        <p:spPr>
          <a:xfrm>
            <a:off x="5440680" y="272491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8" name="Text 38"/>
          <p:cNvSpPr txBox="1"/>
          <p:nvPr/>
        </p:nvSpPr>
        <p:spPr>
          <a:xfrm>
            <a:off x="585216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저장 서비스 — 메시지 소비 정지</a:t>
            </a:r>
            <a:endParaRPr lang="en-US" sz="1300" dirty="0"/>
          </a:p>
        </p:txBody>
      </p:sp>
      <p:sp>
        <p:nvSpPr>
          <p:cNvPr id="59" name="Text 39"/>
          <p:cNvSpPr txBox="1"/>
          <p:nvPr/>
        </p:nvSpPr>
        <p:spPr>
          <a:xfrm>
            <a:off x="9509760" y="27523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신뢰도</a:t>
            </a:r>
            <a:endParaRPr lang="en-US" sz="1000" dirty="0"/>
          </a:p>
        </p:txBody>
      </p:sp>
      <p:sp>
        <p:nvSpPr>
          <p:cNvPr id="60" name="신뢰도 막대"/>
          <p:cNvSpPr/>
          <p:nvPr/>
        </p:nvSpPr>
        <p:spPr>
          <a:xfrm>
            <a:off x="10012680" y="2798064"/>
            <a:ext cx="246888" cy="1005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1" name="신뢰도 막대"/>
          <p:cNvSpPr/>
          <p:nvPr/>
        </p:nvSpPr>
        <p:spPr>
          <a:xfrm>
            <a:off x="10305288" y="2798064"/>
            <a:ext cx="246888" cy="1005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2" name="신뢰도 막대"/>
          <p:cNvSpPr/>
          <p:nvPr/>
        </p:nvSpPr>
        <p:spPr>
          <a:xfrm>
            <a:off x="10597896" y="2798064"/>
            <a:ext cx="246888" cy="1005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43"/>
          <p:cNvSpPr txBox="1"/>
          <p:nvPr/>
        </p:nvSpPr>
        <p:spPr>
          <a:xfrm>
            <a:off x="10927080" y="27249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높음</a:t>
            </a:r>
            <a:endParaRPr lang="en-US" sz="1100" dirty="0"/>
          </a:p>
        </p:txBody>
      </p:sp>
      <p:sp>
        <p:nvSpPr>
          <p:cNvPr id="64" name="칩 E3"/>
          <p:cNvSpPr/>
          <p:nvPr/>
        </p:nvSpPr>
        <p:spPr>
          <a:xfrm>
            <a:off x="5852160" y="3026664"/>
            <a:ext cx="32715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E3</a:t>
            </a:r>
            <a:endParaRPr lang="en-US" sz="1000" dirty="0"/>
          </a:p>
        </p:txBody>
      </p:sp>
      <p:sp>
        <p:nvSpPr>
          <p:cNvPr id="65" name="칩 E4"/>
          <p:cNvSpPr/>
          <p:nvPr/>
        </p:nvSpPr>
        <p:spPr>
          <a:xfrm>
            <a:off x="6234176" y="3026664"/>
            <a:ext cx="32715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E4</a:t>
            </a:r>
            <a:endParaRPr lang="en-US" sz="1000" dirty="0"/>
          </a:p>
        </p:txBody>
      </p:sp>
      <p:sp>
        <p:nvSpPr>
          <p:cNvPr id="66" name="칩 E5"/>
          <p:cNvSpPr/>
          <p:nvPr/>
        </p:nvSpPr>
        <p:spPr>
          <a:xfrm>
            <a:off x="6616192" y="3026664"/>
            <a:ext cx="32715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E5</a:t>
            </a:r>
            <a:endParaRPr lang="en-US" sz="1000" dirty="0"/>
          </a:p>
        </p:txBody>
      </p:sp>
      <p:sp>
        <p:nvSpPr>
          <p:cNvPr id="67" name="Text 47"/>
          <p:cNvSpPr txBox="1"/>
          <p:nvPr/>
        </p:nvSpPr>
        <p:spPr>
          <a:xfrm>
            <a:off x="7089648" y="3044952"/>
            <a:ext cx="424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대기열에 메시지가 쌓이는데 저장소에는 새 기록이 없다</a:t>
            </a:r>
            <a:endParaRPr lang="en-US" sz="1000" dirty="0"/>
          </a:p>
        </p:txBody>
      </p:sp>
      <p:sp>
        <p:nvSpPr>
          <p:cNvPr id="68" name="후보 2"/>
          <p:cNvSpPr/>
          <p:nvPr/>
        </p:nvSpPr>
        <p:spPr>
          <a:xfrm>
            <a:off x="5303520" y="3529584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69" name="순위"/>
          <p:cNvSpPr/>
          <p:nvPr/>
        </p:nvSpPr>
        <p:spPr>
          <a:xfrm>
            <a:off x="5440680" y="3639312"/>
            <a:ext cx="274320" cy="274320"/>
          </a:xfrm>
          <a:prstGeom prst="ellipse">
            <a:avLst/>
          </a:prstGeom>
          <a:solidFill>
            <a:srgbClr val="94A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70" name="Text 50"/>
          <p:cNvSpPr txBox="1"/>
          <p:nvPr/>
        </p:nvSpPr>
        <p:spPr>
          <a:xfrm>
            <a:off x="585216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처리 서비스 — 메시지 생성 지연</a:t>
            </a:r>
            <a:endParaRPr lang="en-US" sz="1300" dirty="0"/>
          </a:p>
        </p:txBody>
      </p:sp>
      <p:sp>
        <p:nvSpPr>
          <p:cNvPr id="71" name="Text 51"/>
          <p:cNvSpPr txBox="1"/>
          <p:nvPr/>
        </p:nvSpPr>
        <p:spPr>
          <a:xfrm>
            <a:off x="9509760" y="3666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신뢰도</a:t>
            </a:r>
            <a:endParaRPr lang="en-US" sz="1000" dirty="0"/>
          </a:p>
        </p:txBody>
      </p:sp>
      <p:sp>
        <p:nvSpPr>
          <p:cNvPr id="72" name="신뢰도 막대"/>
          <p:cNvSpPr/>
          <p:nvPr/>
        </p:nvSpPr>
        <p:spPr>
          <a:xfrm>
            <a:off x="10012680" y="3712464"/>
            <a:ext cx="246888" cy="10058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3" name="신뢰도 막대"/>
          <p:cNvSpPr/>
          <p:nvPr/>
        </p:nvSpPr>
        <p:spPr>
          <a:xfrm>
            <a:off x="10305288" y="3712464"/>
            <a:ext cx="246888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신뢰도 막대"/>
          <p:cNvSpPr/>
          <p:nvPr/>
        </p:nvSpPr>
        <p:spPr>
          <a:xfrm>
            <a:off x="10597896" y="3712464"/>
            <a:ext cx="246888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55"/>
          <p:cNvSpPr txBox="1"/>
          <p:nvPr/>
        </p:nvSpPr>
        <p:spPr>
          <a:xfrm>
            <a:off x="10927080" y="36393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낮음</a:t>
            </a:r>
            <a:endParaRPr lang="en-US" sz="1100" dirty="0"/>
          </a:p>
        </p:txBody>
      </p:sp>
      <p:sp>
        <p:nvSpPr>
          <p:cNvPr id="76" name="칩 E6"/>
          <p:cNvSpPr/>
          <p:nvPr/>
        </p:nvSpPr>
        <p:spPr>
          <a:xfrm>
            <a:off x="5852160" y="3941064"/>
            <a:ext cx="327152" cy="22225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E6</a:t>
            </a:r>
            <a:endParaRPr lang="en-US" sz="1000" dirty="0"/>
          </a:p>
        </p:txBody>
      </p:sp>
      <p:sp>
        <p:nvSpPr>
          <p:cNvPr id="77" name="Text 57"/>
          <p:cNvSpPr txBox="1"/>
          <p:nvPr/>
        </p:nvSpPr>
        <p:spPr>
          <a:xfrm>
            <a:off x="6325616" y="3959352"/>
            <a:ext cx="5012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생성이 평소보다 느렸지만 0건을 설명하지는 못한다</a:t>
            </a:r>
            <a:endParaRPr lang="en-US" sz="1000" dirty="0"/>
          </a:p>
        </p:txBody>
      </p:sp>
      <p:sp>
        <p:nvSpPr>
          <p:cNvPr id="78" name="Text 58"/>
          <p:cNvSpPr txBox="1"/>
          <p:nvPr/>
        </p:nvSpPr>
        <p:spPr>
          <a:xfrm>
            <a:off x="5303520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조치 권고</a:t>
            </a:r>
            <a:endParaRPr lang="en-US" sz="1000" dirty="0"/>
          </a:p>
        </p:txBody>
      </p:sp>
      <p:sp>
        <p:nvSpPr>
          <p:cNvPr id="79" name="Text 59"/>
          <p:cNvSpPr txBox="1"/>
          <p:nvPr/>
        </p:nvSpPr>
        <p:spPr>
          <a:xfrm>
            <a:off x="5303520" y="46451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① 저장 서비스 재기동      ② 정지 원인 로그 확인</a:t>
            </a:r>
            <a:endParaRPr lang="en-US" sz="1200" dirty="0"/>
          </a:p>
        </p:txBody>
      </p:sp>
      <p:sp>
        <p:nvSpPr>
          <p:cNvPr id="80" name="확인하지 못한 것"/>
          <p:cNvSpPr/>
          <p:nvPr/>
        </p:nvSpPr>
        <p:spPr>
          <a:xfrm>
            <a:off x="5303520" y="4956048"/>
            <a:ext cx="6035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</p:spPr>
        <p:txBody>
          <a:bodyPr wrap="square" lIns="355600" tIns="0" rIns="1016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확인하지 못한 것   </a:t>
            </a:r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저장 서비스 로그 — 조회 범위 밖이라 사람 확인 필요</a:t>
            </a:r>
            <a:endParaRPr lang="en-US" sz="1000" dirty="0"/>
          </a:p>
        </p:txBody>
      </p:sp>
      <p:sp>
        <p:nvSpPr>
          <p:cNvPr id="81" name="빈 체크"/>
          <p:cNvSpPr/>
          <p:nvPr/>
        </p:nvSpPr>
        <p:spPr>
          <a:xfrm>
            <a:off x="5413248" y="504748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82" name="실제 원인 기록 틀"/>
          <p:cNvSpPr/>
          <p:nvPr/>
        </p:nvSpPr>
        <p:spPr>
          <a:xfrm>
            <a:off x="5303520" y="5376672"/>
            <a:ext cx="6035040" cy="786384"/>
          </a:xfrm>
          <a:prstGeom prst="roundRect">
            <a:avLst>
              <a:gd name="adj" fmla="val 11628"/>
            </a:avLst>
          </a:prstGeom>
          <a:solidFill>
            <a:srgbClr val="ECFDF5"/>
          </a:solidFill>
          <a:ln w="19050">
            <a:solidFill>
              <a:srgbClr val="0F766E"/>
            </a:solidFill>
            <a:prstDash val="solid"/>
          </a:ln>
        </p:spPr>
      </p:sp>
      <p:pic>
        <p:nvPicPr>
          <p:cNvPr id="83" name="아이콘 LuTag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68112" y="5486400"/>
            <a:ext cx="237744" cy="237744"/>
          </a:xfrm>
          <a:prstGeom prst="rect">
            <a:avLst/>
          </a:prstGeom>
        </p:spPr>
      </p:pic>
      <p:sp>
        <p:nvSpPr>
          <p:cNvPr id="84" name="Text 63"/>
          <p:cNvSpPr txBox="1"/>
          <p:nvPr/>
        </p:nvSpPr>
        <p:spPr>
          <a:xfrm>
            <a:off x="5797296" y="5468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5E59"/>
                </a:solidFill>
              </a:rPr>
              <a:t>조치한 뒤 실제 원인을 알려 주세요</a:t>
            </a:r>
            <a:endParaRPr lang="en-US" sz="1300" dirty="0"/>
          </a:p>
        </p:txBody>
      </p:sp>
      <p:sp>
        <p:nvSpPr>
          <p:cNvPr id="85" name="Text 64"/>
          <p:cNvSpPr txBox="1"/>
          <p:nvPr/>
        </p:nvSpPr>
        <p:spPr>
          <a:xfrm>
            <a:off x="5797296" y="5779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맞음 · 일부만 맞음 · 틀림 · 모름   →  정확도 측정과 다음 조사의 출발점으로</a:t>
            </a:r>
            <a:endParaRPr lang="en-US" sz="1000" dirty="0"/>
          </a:p>
        </p:txBody>
      </p:sp>
      <p:sp>
        <p:nvSpPr>
          <p:cNvPr id="86" name="기록 버튼"/>
          <p:cNvSpPr/>
          <p:nvPr/>
        </p:nvSpPr>
        <p:spPr>
          <a:xfrm>
            <a:off x="10058400" y="5559552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실제 원인 기록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다음 비전 ② 쓸수록 ‘얼마나 맞히는지’가 보인다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실제 원인을 기록해 정확도를 재고, 새로 잡은 이상 유형은 규칙 점검으로 돌려보낸다</a:t>
            </a:r>
            <a:endParaRPr lang="en-US" sz="1400" dirty="0"/>
          </a:p>
        </p:txBody>
      </p:sp>
      <p:sp>
        <p:nvSpPr>
          <p:cNvPr id="4" name="학습 순환 원"/>
          <p:cNvSpPr/>
          <p:nvPr/>
        </p:nvSpPr>
        <p:spPr>
          <a:xfrm>
            <a:off x="1371600" y="2240280"/>
            <a:ext cx="3291840" cy="32918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순환 방향"/>
          <p:cNvSpPr/>
          <p:nvPr/>
        </p:nvSpPr>
        <p:spPr>
          <a:xfrm rot="8100000">
            <a:off x="4089921" y="2630919"/>
            <a:ext cx="18288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6" name="순환 방향"/>
          <p:cNvSpPr/>
          <p:nvPr/>
        </p:nvSpPr>
        <p:spPr>
          <a:xfrm rot="13500000">
            <a:off x="4089921" y="4958601"/>
            <a:ext cx="18288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7" name="순환 방향"/>
          <p:cNvSpPr/>
          <p:nvPr/>
        </p:nvSpPr>
        <p:spPr>
          <a:xfrm rot="18900000">
            <a:off x="1762239" y="4958601"/>
            <a:ext cx="18288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8" name="순환 방향"/>
          <p:cNvSpPr/>
          <p:nvPr/>
        </p:nvSpPr>
        <p:spPr>
          <a:xfrm rot="2700000">
            <a:off x="1762239" y="2630919"/>
            <a:ext cx="18288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9" name="AI가 조사 · 판정"/>
          <p:cNvSpPr/>
          <p:nvPr/>
        </p:nvSpPr>
        <p:spPr>
          <a:xfrm>
            <a:off x="2148840" y="1865376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22225">
            <a:solidFill>
              <a:srgbClr val="2563EB"/>
            </a:solidFill>
            <a:prstDash val="solid"/>
          </a:ln>
        </p:spPr>
        <p:txBody>
          <a:bodyPr wrap="square" lIns="406400" tIns="101600" rIns="1016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AI가 조사 · 판정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원인 후보와 신뢰도</a:t>
            </a:r>
            <a:endParaRPr lang="en-US" sz="1200" dirty="0"/>
          </a:p>
        </p:txBody>
      </p:sp>
      <p:pic>
        <p:nvPicPr>
          <p:cNvPr id="10" name="아이콘 LuSparkl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856" y="1976120"/>
            <a:ext cx="182880" cy="182880"/>
          </a:xfrm>
          <a:prstGeom prst="rect">
            <a:avLst/>
          </a:prstGeom>
        </p:spPr>
      </p:pic>
      <p:sp>
        <p:nvSpPr>
          <p:cNvPr id="11" name="실제 원인 기록"/>
          <p:cNvSpPr/>
          <p:nvPr/>
        </p:nvSpPr>
        <p:spPr>
          <a:xfrm>
            <a:off x="3794760" y="3511296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22225">
            <a:solidFill>
              <a:srgbClr val="0F766E"/>
            </a:solidFill>
            <a:prstDash val="solid"/>
          </a:ln>
        </p:spPr>
        <p:txBody>
          <a:bodyPr wrap="square" lIns="406400" tIns="101600" rIns="1016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5E59"/>
                </a:solidFill>
              </a:rPr>
              <a:t>실제 원인 기록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맞음·일부·틀림·모름</a:t>
            </a:r>
            <a:endParaRPr lang="en-US" sz="1200" dirty="0"/>
          </a:p>
        </p:txBody>
      </p:sp>
      <p:pic>
        <p:nvPicPr>
          <p:cNvPr id="12" name="아이콘 LuTa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3622040"/>
            <a:ext cx="182880" cy="182880"/>
          </a:xfrm>
          <a:prstGeom prst="rect">
            <a:avLst/>
          </a:prstGeom>
        </p:spPr>
      </p:pic>
      <p:sp>
        <p:nvSpPr>
          <p:cNvPr id="13" name="정확도 측정"/>
          <p:cNvSpPr/>
          <p:nvPr/>
        </p:nvSpPr>
        <p:spPr>
          <a:xfrm>
            <a:off x="2148840" y="5157216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 wrap="square" lIns="406400" tIns="101600" rIns="1016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정확도 측정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‘높음’이 실제로 맞았나</a:t>
            </a:r>
            <a:endParaRPr lang="en-US" sz="1200" dirty="0"/>
          </a:p>
        </p:txBody>
      </p:sp>
      <p:pic>
        <p:nvPicPr>
          <p:cNvPr id="14" name="아이콘 LuTarg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5267960"/>
            <a:ext cx="182880" cy="182880"/>
          </a:xfrm>
          <a:prstGeom prst="rect">
            <a:avLst/>
          </a:prstGeom>
        </p:spPr>
      </p:pic>
      <p:sp>
        <p:nvSpPr>
          <p:cNvPr id="15" name="과거 사건 → 출발점"/>
          <p:cNvSpPr/>
          <p:nvPr/>
        </p:nvSpPr>
        <p:spPr>
          <a:xfrm>
            <a:off x="502920" y="3511296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  <p:txBody>
          <a:bodyPr wrap="square" lIns="406400" tIns="101600" rIns="1016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과거 사건 → 출발점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비슷한 사건을 참고로</a:t>
            </a:r>
            <a:endParaRPr lang="en-US" sz="1200" dirty="0"/>
          </a:p>
        </p:txBody>
      </p:sp>
      <p:pic>
        <p:nvPicPr>
          <p:cNvPr id="16" name="아이콘 LuFold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622040"/>
            <a:ext cx="182880" cy="182880"/>
          </a:xfrm>
          <a:prstGeom prst="rect">
            <a:avLst/>
          </a:prstGeom>
        </p:spPr>
      </p:pic>
      <p:pic>
        <p:nvPicPr>
          <p:cNvPr id="17" name="아이콘 LuRefreshCw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317296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286000" y="358444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기록이 쌓일수록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얼마나 맞히는지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보인다</a:t>
            </a:r>
            <a:endParaRPr lang="en-US" sz="1300" dirty="0"/>
          </a:p>
        </p:txBody>
      </p:sp>
      <p:sp>
        <p:nvSpPr>
          <p:cNvPr id="19" name="규칙으로 돌려보내기 틀"/>
          <p:cNvSpPr/>
          <p:nvPr/>
        </p:nvSpPr>
        <p:spPr>
          <a:xfrm>
            <a:off x="6172200" y="1463040"/>
            <a:ext cx="5559552" cy="2834640"/>
          </a:xfrm>
          <a:prstGeom prst="roundRect">
            <a:avLst>
              <a:gd name="adj" fmla="val 4516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355080" y="1572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또 하나의 순환 — 잡은 유형은 규칙으로 돌려보낸다</a:t>
            </a:r>
            <a:endParaRPr lang="en-US" sz="1400" dirty="0"/>
          </a:p>
        </p:txBody>
      </p:sp>
      <p:sp>
        <p:nvSpPr>
          <p:cNvPr id="21" name="AI 조사가 규칙에 없던 이상 유형을 찾는다"/>
          <p:cNvSpPr/>
          <p:nvPr/>
        </p:nvSpPr>
        <p:spPr>
          <a:xfrm>
            <a:off x="6355080" y="1965960"/>
            <a:ext cx="4709160" cy="585216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444500" tIns="762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AI 조사가 규칙에 없던 이상 유형을 찾는다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예: 합계는 정상인데 한 갈래만 멈춰 있다</a:t>
            </a:r>
            <a:endParaRPr lang="en-US" sz="1200" dirty="0"/>
          </a:p>
        </p:txBody>
      </p:sp>
      <p:pic>
        <p:nvPicPr>
          <p:cNvPr id="22" name="아이콘 LuSparkle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2051304"/>
            <a:ext cx="219456" cy="219456"/>
          </a:xfrm>
          <a:prstGeom prst="rect">
            <a:avLst/>
          </a:prstGeom>
        </p:spPr>
      </p:pic>
      <p:sp>
        <p:nvSpPr>
          <p:cNvPr id="23" name="연결선"/>
          <p:cNvSpPr/>
          <p:nvPr/>
        </p:nvSpPr>
        <p:spPr>
          <a:xfrm>
            <a:off x="8686800" y="2551176"/>
            <a:ext cx="0" cy="16459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담당자가 그 유형을 규칙 점검으로 등록한다"/>
          <p:cNvSpPr/>
          <p:nvPr/>
        </p:nvSpPr>
        <p:spPr>
          <a:xfrm>
            <a:off x="6355080" y="2724912"/>
            <a:ext cx="4709160" cy="58521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5875">
            <a:solidFill>
              <a:srgbClr val="0F766E"/>
            </a:solidFill>
            <a:prstDash val="solid"/>
          </a:ln>
        </p:spPr>
        <p:txBody>
          <a:bodyPr wrap="square" lIns="444500" tIns="762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5E59"/>
                </a:solidFill>
              </a:rPr>
              <a:t>담당자가 그 유형을 규칙 점검으로 등록한다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설정 한 줄 — 넣을지는 사람이 정한다</a:t>
            </a:r>
            <a:endParaRPr lang="en-US" sz="1200" dirty="0"/>
          </a:p>
        </p:txBody>
      </p:sp>
      <p:pic>
        <p:nvPicPr>
          <p:cNvPr id="25" name="아이콘 LuUse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2810256"/>
            <a:ext cx="219456" cy="219456"/>
          </a:xfrm>
          <a:prstGeom prst="rect">
            <a:avLst/>
          </a:prstGeom>
        </p:spPr>
      </p:pic>
      <p:sp>
        <p:nvSpPr>
          <p:cNvPr id="26" name="연결선"/>
          <p:cNvSpPr/>
          <p:nvPr/>
        </p:nvSpPr>
        <p:spPr>
          <a:xfrm>
            <a:off x="8686800" y="3310128"/>
            <a:ext cx="0" cy="16459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다음부터는 규칙 점검이 바로 잡는다"/>
          <p:cNvSpPr/>
          <p:nvPr/>
        </p:nvSpPr>
        <p:spPr>
          <a:xfrm>
            <a:off x="6355080" y="3483864"/>
            <a:ext cx="4709160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444500" tIns="76200" rIns="101600" bIns="762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다음부터는 규칙 점검이 바로 잡는다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더 자주 돌고, AI를 부르지 않는다</a:t>
            </a:r>
            <a:endParaRPr lang="en-US" sz="1200" dirty="0"/>
          </a:p>
        </p:txBody>
      </p:sp>
      <p:pic>
        <p:nvPicPr>
          <p:cNvPr id="28" name="아이콘 LuRadar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3569208"/>
            <a:ext cx="219456" cy="219456"/>
          </a:xfrm>
          <a:prstGeom prst="rect">
            <a:avLst/>
          </a:prstGeom>
        </p:spPr>
      </p:pic>
      <p:sp>
        <p:nvSpPr>
          <p:cNvPr id="29" name="되돌림"/>
          <p:cNvSpPr/>
          <p:nvPr/>
        </p:nvSpPr>
        <p:spPr>
          <a:xfrm>
            <a:off x="11064240" y="3776472"/>
            <a:ext cx="3657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30" name="되돌림"/>
          <p:cNvSpPr/>
          <p:nvPr/>
        </p:nvSpPr>
        <p:spPr>
          <a:xfrm flipV="1">
            <a:off x="11430000" y="2258568"/>
            <a:ext cx="0" cy="1517904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31" name="되돌림"/>
          <p:cNvSpPr/>
          <p:nvPr/>
        </p:nvSpPr>
        <p:spPr>
          <a:xfrm flipH="1">
            <a:off x="11082528" y="2258568"/>
            <a:ext cx="34747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  <a:tailEnd type="triangle"/>
          </a:ln>
        </p:spPr>
      </p:sp>
      <p:sp>
        <p:nvSpPr>
          <p:cNvPr id="32" name="되돌림 설명"/>
          <p:cNvSpPr txBox="1"/>
          <p:nvPr/>
        </p:nvSpPr>
        <p:spPr>
          <a:xfrm rot="5400000">
            <a:off x="11000232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AI는 새 유형에 집중</a:t>
            </a:r>
            <a:endParaRPr lang="en-US" sz="1000" dirty="0"/>
          </a:p>
        </p:txBody>
      </p:sp>
      <p:sp>
        <p:nvSpPr>
          <p:cNvPr id="33" name="지키는 선 틀"/>
          <p:cNvSpPr/>
          <p:nvPr/>
        </p:nvSpPr>
        <p:spPr>
          <a:xfrm>
            <a:off x="6172200" y="4480560"/>
            <a:ext cx="5559552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35508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지키는 선</a:t>
            </a:r>
            <a:endParaRPr lang="en-US" sz="1400" dirty="0"/>
          </a:p>
        </p:txBody>
      </p:sp>
      <p:pic>
        <p:nvPicPr>
          <p:cNvPr id="35" name="아이콘 LuLock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956048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675120" y="49377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숫자를 서두르지 않는다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기록 30건 이상, 종결의 절반 이상이 기록된 뒤에만 정확도를 낸다</a:t>
            </a:r>
            <a:endParaRPr lang="en-US" sz="1200" dirty="0"/>
          </a:p>
        </p:txBody>
      </p:sp>
      <p:pic>
        <p:nvPicPr>
          <p:cNvPr id="37" name="아이콘 LuShieldCheck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5413248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675120" y="53949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과거는 출발점일 뿐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결론은 이번 사건의 증거로만 — 비슷한 증상이 같은 원인은 아니다</a:t>
            </a:r>
            <a:endParaRPr lang="en-US" sz="1200" dirty="0"/>
          </a:p>
        </p:txBody>
      </p:sp>
      <p:pic>
        <p:nvPicPr>
          <p:cNvPr id="39" name="아이콘 LuUser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2512" y="5870448"/>
            <a:ext cx="201168" cy="201168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6675120" y="58521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자동 조정은 없다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숫자를 보고 설정을 바꾸는 것은 사람이다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함께 정할 것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완성과 운영을 위해 결정이 필요한 것 (초안)</a:t>
            </a:r>
            <a:endParaRPr lang="en-US" sz="1400" dirty="0"/>
          </a:p>
        </p:txBody>
      </p:sp>
      <p:sp>
        <p:nvSpPr>
          <p:cNvPr id="4" name="결정 운영 환경"/>
          <p:cNvSpPr/>
          <p:nvPr/>
        </p:nvSpPr>
        <p:spPr>
          <a:xfrm>
            <a:off x="457200" y="1554480"/>
            <a:ext cx="5541264" cy="2057400"/>
          </a:xfrm>
          <a:prstGeom prst="roundRect">
            <a:avLst>
              <a:gd name="adj" fmla="val 6222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5" name="아이콘 원"/>
          <p:cNvSpPr/>
          <p:nvPr/>
        </p:nvSpPr>
        <p:spPr>
          <a:xfrm>
            <a:off x="822960" y="1938528"/>
            <a:ext cx="731520" cy="731520"/>
          </a:xfrm>
          <a:prstGeom prst="ellipse">
            <a:avLst/>
          </a:prstGeom>
          <a:solidFill>
            <a:srgbClr val="0F172A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6" name="아이콘 LuServ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214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6596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운영 환경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23160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상주 프로세스를 돌릴 서버, 그리고 프로세스가 죽었을 때 살리는 감시</a:t>
            </a:r>
            <a:endParaRPr lang="en-US" sz="1400" dirty="0"/>
          </a:p>
        </p:txBody>
      </p:sp>
      <p:sp>
        <p:nvSpPr>
          <p:cNvPr id="9" name="결정 사내 반입"/>
          <p:cNvSpPr/>
          <p:nvPr/>
        </p:nvSpPr>
        <p:spPr>
          <a:xfrm>
            <a:off x="6190488" y="1554480"/>
            <a:ext cx="5541264" cy="2057400"/>
          </a:xfrm>
          <a:prstGeom prst="roundRect">
            <a:avLst>
              <a:gd name="adj" fmla="val 6222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10" name="아이콘 원"/>
          <p:cNvSpPr/>
          <p:nvPr/>
        </p:nvSpPr>
        <p:spPr>
          <a:xfrm>
            <a:off x="6556248" y="1938528"/>
            <a:ext cx="731520" cy="731520"/>
          </a:xfrm>
          <a:prstGeom prst="ellipse">
            <a:avLst/>
          </a:prstGeom>
          <a:solidFill>
            <a:srgbClr val="0F172A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11" name="아이콘 LuPackage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1214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62088" y="196596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사내 반입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562088" y="2423160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조사 엔진 라이브러리(LangGraph)와 코드 그래프 도구(graphify)의 사내 반입 승인</a:t>
            </a:r>
            <a:endParaRPr lang="en-US" sz="1400" dirty="0"/>
          </a:p>
        </p:txBody>
      </p:sp>
      <p:sp>
        <p:nvSpPr>
          <p:cNvPr id="14" name="결정 실제 원인 기록"/>
          <p:cNvSpPr/>
          <p:nvPr/>
        </p:nvSpPr>
        <p:spPr>
          <a:xfrm>
            <a:off x="457200" y="3886200"/>
            <a:ext cx="5541264" cy="2057400"/>
          </a:xfrm>
          <a:prstGeom prst="roundRect">
            <a:avLst>
              <a:gd name="adj" fmla="val 6222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15" name="아이콘 원"/>
          <p:cNvSpPr/>
          <p:nvPr/>
        </p:nvSpPr>
        <p:spPr>
          <a:xfrm>
            <a:off x="822960" y="4270248"/>
            <a:ext cx="731520" cy="731520"/>
          </a:xfrm>
          <a:prstGeom prst="ellipse">
            <a:avLst/>
          </a:prstGeom>
          <a:solidFill>
            <a:srgbClr val="0F172A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16" name="아이콘 LuTa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531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29768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실제 원인 기록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754880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조치한 담당자가 결과를 한 번 기록하는 운영 규칙 — 정확도 측정의 전제</a:t>
            </a:r>
            <a:endParaRPr lang="en-US" sz="1400" dirty="0"/>
          </a:p>
        </p:txBody>
      </p:sp>
      <p:sp>
        <p:nvSpPr>
          <p:cNvPr id="19" name="결정 다음 비전 순서"/>
          <p:cNvSpPr/>
          <p:nvPr/>
        </p:nvSpPr>
        <p:spPr>
          <a:xfrm>
            <a:off x="6190488" y="3886200"/>
            <a:ext cx="5541264" cy="2057400"/>
          </a:xfrm>
          <a:prstGeom prst="roundRect">
            <a:avLst>
              <a:gd name="adj" fmla="val 6222"/>
            </a:avLst>
          </a:prstGeom>
          <a:solidFill>
            <a:srgbClr val="1E293B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20" name="아이콘 원"/>
          <p:cNvSpPr/>
          <p:nvPr/>
        </p:nvSpPr>
        <p:spPr>
          <a:xfrm>
            <a:off x="6556248" y="4270248"/>
            <a:ext cx="731520" cy="731520"/>
          </a:xfrm>
          <a:prstGeom prst="ellipse">
            <a:avLst/>
          </a:prstGeom>
          <a:solidFill>
            <a:srgbClr val="0F172A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21" name="아이콘 LuRock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45312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62088" y="429768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다음 비전 순서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562088" y="4754880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웹 질의 창구 · 학습 루프 · 조사 범위 확장 중 무엇부터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부록 — 기술 아키텍처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질의응답용 — 같은 구조를 모듈 이름까지 내려 그렸다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99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실행</a:t>
            </a:r>
            <a:endParaRPr lang="en-US" sz="1200" dirty="0"/>
          </a:p>
        </p:txBody>
      </p:sp>
      <p:sp>
        <p:nvSpPr>
          <p:cNvPr id="5" name="명령 schedule"/>
          <p:cNvSpPr/>
          <p:nvPr/>
        </p:nvSpPr>
        <p:spPr>
          <a:xfrm>
            <a:off x="1005840" y="1371600"/>
            <a:ext cx="881482" cy="274320"/>
          </a:xfrm>
          <a:prstGeom prst="roundRect">
            <a:avLst>
              <a:gd name="adj" fmla="val 43333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1000" dirty="0"/>
          </a:p>
        </p:txBody>
      </p:sp>
      <p:sp>
        <p:nvSpPr>
          <p:cNvPr id="6" name="명령 patrol check · open"/>
          <p:cNvSpPr/>
          <p:nvPr/>
        </p:nvSpPr>
        <p:spPr>
          <a:xfrm>
            <a:off x="1978762" y="1371600"/>
            <a:ext cx="1716329" cy="274320"/>
          </a:xfrm>
          <a:prstGeom prst="roundRect">
            <a:avLst>
              <a:gd name="adj" fmla="val 43333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 check · open</a:t>
            </a:r>
            <a:endParaRPr lang="en-US" sz="1000" dirty="0"/>
          </a:p>
        </p:txBody>
      </p:sp>
      <p:sp>
        <p:nvSpPr>
          <p:cNvPr id="7" name="명령 case investigate"/>
          <p:cNvSpPr/>
          <p:nvPr/>
        </p:nvSpPr>
        <p:spPr>
          <a:xfrm>
            <a:off x="3786530" y="1371600"/>
            <a:ext cx="1488643" cy="274320"/>
          </a:xfrm>
          <a:prstGeom prst="roundRect">
            <a:avLst>
              <a:gd name="adj" fmla="val 43333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investigate</a:t>
            </a:r>
            <a:endParaRPr lang="en-US" sz="1000" dirty="0"/>
          </a:p>
        </p:txBody>
      </p:sp>
      <p:sp>
        <p:nvSpPr>
          <p:cNvPr id="8" name="명령 report run"/>
          <p:cNvSpPr/>
          <p:nvPr/>
        </p:nvSpPr>
        <p:spPr>
          <a:xfrm>
            <a:off x="5366614" y="1371600"/>
            <a:ext cx="1033272" cy="274320"/>
          </a:xfrm>
          <a:prstGeom prst="roundRect">
            <a:avLst>
              <a:gd name="adj" fmla="val 43333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run</a:t>
            </a:r>
            <a:endParaRPr lang="en-US" sz="1000" dirty="0"/>
          </a:p>
        </p:txBody>
      </p:sp>
      <p:sp>
        <p:nvSpPr>
          <p:cNvPr id="9" name="명령 code sync · graph · check"/>
          <p:cNvSpPr/>
          <p:nvPr/>
        </p:nvSpPr>
        <p:spPr>
          <a:xfrm>
            <a:off x="6491326" y="1371600"/>
            <a:ext cx="2171700" cy="274320"/>
          </a:xfrm>
          <a:prstGeom prst="roundRect">
            <a:avLst>
              <a:gd name="adj" fmla="val 43333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sync · graph · check</a:t>
            </a:r>
            <a:endParaRPr lang="en-US" sz="1000" dirty="0"/>
          </a:p>
        </p:txBody>
      </p:sp>
      <p:sp>
        <p:nvSpPr>
          <p:cNvPr id="10" name="명령 boot · doctor"/>
          <p:cNvSpPr/>
          <p:nvPr/>
        </p:nvSpPr>
        <p:spPr>
          <a:xfrm>
            <a:off x="8754466" y="1371600"/>
            <a:ext cx="1260958" cy="274320"/>
          </a:xfrm>
          <a:prstGeom prst="roundRect">
            <a:avLst>
              <a:gd name="adj" fmla="val 43333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· doctor</a:t>
            </a:r>
            <a:endParaRPr lang="en-US" sz="1000" dirty="0"/>
          </a:p>
        </p:txBody>
      </p:sp>
      <p:sp>
        <p:nvSpPr>
          <p:cNvPr id="11" name="순찰 블록"/>
          <p:cNvSpPr/>
          <p:nvPr/>
        </p:nvSpPr>
        <p:spPr>
          <a:xfrm>
            <a:off x="457200" y="182880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순찰</a:t>
            </a:r>
            <a:endParaRPr lang="en-US" sz="1300" dirty="0"/>
          </a:p>
        </p:txBody>
      </p:sp>
      <p:sp>
        <p:nvSpPr>
          <p:cNvPr id="13" name="모듈 src/patrol"/>
          <p:cNvSpPr txBox="1"/>
          <p:nvPr/>
        </p:nvSpPr>
        <p:spPr>
          <a:xfrm>
            <a:off x="1034288" y="19293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src/patrol</a:t>
            </a:r>
            <a:endParaRPr lang="en-US" sz="1000" dirty="0"/>
          </a:p>
        </p:txBody>
      </p:sp>
      <p:sp>
        <p:nvSpPr>
          <p:cNvPr id="14" name="프로브"/>
          <p:cNvSpPr/>
          <p:nvPr/>
        </p:nvSpPr>
        <p:spPr>
          <a:xfrm>
            <a:off x="594360" y="2240280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381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프로브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여러 읽기를 동시에</a:t>
            </a:r>
            <a:endParaRPr lang="en-US" sz="1200" dirty="0"/>
          </a:p>
        </p:txBody>
      </p:sp>
      <p:sp>
        <p:nvSpPr>
          <p:cNvPr id="15" name="모듈 probes.py"/>
          <p:cNvSpPr txBox="1"/>
          <p:nvPr/>
        </p:nvSpPr>
        <p:spPr>
          <a:xfrm>
            <a:off x="1783080" y="2286000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probes.py</a:t>
            </a:r>
            <a:endParaRPr lang="en-US" sz="900" dirty="0"/>
          </a:p>
        </p:txBody>
      </p:sp>
      <p:sp>
        <p:nvSpPr>
          <p:cNvPr id="16" name="연결선"/>
          <p:cNvSpPr/>
          <p:nvPr/>
        </p:nvSpPr>
        <p:spPr>
          <a:xfrm>
            <a:off x="1805940" y="2697480"/>
            <a:ext cx="0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판정"/>
          <p:cNvSpPr/>
          <p:nvPr/>
        </p:nvSpPr>
        <p:spPr>
          <a:xfrm>
            <a:off x="594360" y="2825496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381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판정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ok·finding·skipped·unreachable</a:t>
            </a:r>
            <a:endParaRPr lang="en-US" sz="1200" dirty="0"/>
          </a:p>
        </p:txBody>
      </p:sp>
      <p:sp>
        <p:nvSpPr>
          <p:cNvPr id="18" name="모듈 rules.py"/>
          <p:cNvSpPr txBox="1"/>
          <p:nvPr/>
        </p:nvSpPr>
        <p:spPr>
          <a:xfrm>
            <a:off x="1783080" y="287121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rules.py</a:t>
            </a:r>
            <a:endParaRPr lang="en-US" sz="900" dirty="0"/>
          </a:p>
        </p:txBody>
      </p:sp>
      <p:sp>
        <p:nvSpPr>
          <p:cNvPr id="19" name="연결선"/>
          <p:cNvSpPr/>
          <p:nvPr/>
        </p:nvSpPr>
        <p:spPr>
          <a:xfrm>
            <a:off x="1805940" y="3282696"/>
            <a:ext cx="0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게이트"/>
          <p:cNvSpPr/>
          <p:nvPr/>
        </p:nvSpPr>
        <p:spPr>
          <a:xfrm>
            <a:off x="594360" y="3410712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381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게이트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같은 문제는 첨부</a:t>
            </a:r>
            <a:endParaRPr lang="en-US" sz="1200" dirty="0"/>
          </a:p>
        </p:txBody>
      </p:sp>
      <p:sp>
        <p:nvSpPr>
          <p:cNvPr id="21" name="모듈 gate.py"/>
          <p:cNvSpPr txBox="1"/>
          <p:nvPr/>
        </p:nvSpPr>
        <p:spPr>
          <a:xfrm>
            <a:off x="1783080" y="345643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gate.py</a:t>
            </a:r>
            <a:endParaRPr lang="en-US" sz="900" dirty="0"/>
          </a:p>
        </p:txBody>
      </p:sp>
      <p:sp>
        <p:nvSpPr>
          <p:cNvPr id="22" name="연결선"/>
          <p:cNvSpPr/>
          <p:nvPr/>
        </p:nvSpPr>
        <p:spPr>
          <a:xfrm>
            <a:off x="1805940" y="3867912"/>
            <a:ext cx="0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사건 저장소"/>
          <p:cNvSpPr/>
          <p:nvPr/>
        </p:nvSpPr>
        <p:spPr>
          <a:xfrm>
            <a:off x="594360" y="3995928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381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사건 저장소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사건·증거·경과</a:t>
            </a:r>
            <a:endParaRPr lang="en-US" sz="1200" dirty="0"/>
          </a:p>
        </p:txBody>
      </p:sp>
      <p:sp>
        <p:nvSpPr>
          <p:cNvPr id="24" name="모듈 case_store_file"/>
          <p:cNvSpPr txBox="1"/>
          <p:nvPr/>
        </p:nvSpPr>
        <p:spPr>
          <a:xfrm>
            <a:off x="1783080" y="404164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case_store_file</a:t>
            </a:r>
            <a:endParaRPr lang="en-US" sz="900" dirty="0"/>
          </a:p>
        </p:txBody>
      </p:sp>
      <p:sp>
        <p:nvSpPr>
          <p:cNvPr id="25" name="조사 엔진 블록"/>
          <p:cNvSpPr/>
          <p:nvPr/>
        </p:nvSpPr>
        <p:spPr>
          <a:xfrm>
            <a:off x="3291840" y="1828800"/>
            <a:ext cx="5074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조사 엔진</a:t>
            </a:r>
            <a:endParaRPr lang="en-US" sz="1300" dirty="0"/>
          </a:p>
        </p:txBody>
      </p:sp>
      <p:sp>
        <p:nvSpPr>
          <p:cNvPr id="27" name="모듈 src/application · LangGraph"/>
          <p:cNvSpPr txBox="1"/>
          <p:nvPr/>
        </p:nvSpPr>
        <p:spPr>
          <a:xfrm>
            <a:off x="4248658" y="19293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src/application · LangGraph</a:t>
            </a:r>
            <a:endParaRPr lang="en-US" sz="1000" dirty="0"/>
          </a:p>
        </p:txBody>
      </p:sp>
      <p:sp>
        <p:nvSpPr>
          <p:cNvPr id="28" name="노드 frame"/>
          <p:cNvSpPr/>
          <p:nvPr/>
        </p:nvSpPr>
        <p:spPr>
          <a:xfrm>
            <a:off x="3429000" y="224028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</a:t>
            </a:r>
            <a:endParaRPr lang="en-US" sz="1000" dirty="0"/>
          </a:p>
        </p:txBody>
      </p:sp>
      <p:sp>
        <p:nvSpPr>
          <p:cNvPr id="29" name="연결선"/>
          <p:cNvSpPr/>
          <p:nvPr/>
        </p:nvSpPr>
        <p:spPr>
          <a:xfrm>
            <a:off x="4160520" y="2386584"/>
            <a:ext cx="7772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노드 select"/>
          <p:cNvSpPr/>
          <p:nvPr/>
        </p:nvSpPr>
        <p:spPr>
          <a:xfrm>
            <a:off x="4238244" y="224028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F1F5F9"/>
          </a:solidFill>
          <a:ln w="15875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</p:txBody>
      </p:sp>
      <p:sp>
        <p:nvSpPr>
          <p:cNvPr id="31" name="연결선"/>
          <p:cNvSpPr/>
          <p:nvPr/>
        </p:nvSpPr>
        <p:spPr>
          <a:xfrm>
            <a:off x="4969764" y="2386584"/>
            <a:ext cx="7772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노드 execute×N"/>
          <p:cNvSpPr/>
          <p:nvPr/>
        </p:nvSpPr>
        <p:spPr>
          <a:xfrm>
            <a:off x="5047488" y="224028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F1F5F9"/>
          </a:solidFill>
          <a:ln w="15875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execute×N</a:t>
            </a:r>
            <a:endParaRPr lang="en-US" sz="1000" dirty="0"/>
          </a:p>
        </p:txBody>
      </p:sp>
      <p:sp>
        <p:nvSpPr>
          <p:cNvPr id="33" name="연결선"/>
          <p:cNvSpPr/>
          <p:nvPr/>
        </p:nvSpPr>
        <p:spPr>
          <a:xfrm>
            <a:off x="5779008" y="2386584"/>
            <a:ext cx="7772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노드 integrate"/>
          <p:cNvSpPr/>
          <p:nvPr/>
        </p:nvSpPr>
        <p:spPr>
          <a:xfrm>
            <a:off x="5856732" y="224028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integrate</a:t>
            </a:r>
            <a:endParaRPr lang="en-US" sz="1000" dirty="0"/>
          </a:p>
        </p:txBody>
      </p:sp>
      <p:sp>
        <p:nvSpPr>
          <p:cNvPr id="35" name="연결선"/>
          <p:cNvSpPr/>
          <p:nvPr/>
        </p:nvSpPr>
        <p:spPr>
          <a:xfrm>
            <a:off x="6588252" y="2386584"/>
            <a:ext cx="7772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노드 conclude"/>
          <p:cNvSpPr/>
          <p:nvPr/>
        </p:nvSpPr>
        <p:spPr>
          <a:xfrm>
            <a:off x="6665976" y="224028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conclude</a:t>
            </a:r>
            <a:endParaRPr lang="en-US" sz="1000" dirty="0"/>
          </a:p>
        </p:txBody>
      </p:sp>
      <p:sp>
        <p:nvSpPr>
          <p:cNvPr id="37" name="연결선"/>
          <p:cNvSpPr/>
          <p:nvPr/>
        </p:nvSpPr>
        <p:spPr>
          <a:xfrm>
            <a:off x="7397496" y="2386584"/>
            <a:ext cx="7772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노드 verify"/>
          <p:cNvSpPr/>
          <p:nvPr/>
        </p:nvSpPr>
        <p:spPr>
          <a:xfrm>
            <a:off x="7475220" y="224028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F1F5F9"/>
          </a:solidFill>
          <a:ln w="15875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000" dirty="0"/>
          </a:p>
        </p:txBody>
      </p:sp>
      <p:sp>
        <p:nvSpPr>
          <p:cNvPr id="39" name="연결선"/>
          <p:cNvSpPr/>
          <p:nvPr/>
        </p:nvSpPr>
        <p:spPr>
          <a:xfrm>
            <a:off x="6222492" y="2532888"/>
            <a:ext cx="0" cy="137160"/>
          </a:xfrm>
          <a:prstGeom prst="line">
            <a:avLst/>
          </a:prstGeom>
          <a:noFill/>
          <a:ln w="15875">
            <a:solidFill>
              <a:srgbClr val="2563EB"/>
            </a:solidFill>
            <a:prstDash val="dash"/>
          </a:ln>
        </p:spPr>
      </p:sp>
      <p:sp>
        <p:nvSpPr>
          <p:cNvPr id="40" name="연결선"/>
          <p:cNvSpPr/>
          <p:nvPr/>
        </p:nvSpPr>
        <p:spPr>
          <a:xfrm flipH="1">
            <a:off x="4604004" y="2670048"/>
            <a:ext cx="161848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dash"/>
          </a:ln>
        </p:spPr>
      </p:sp>
      <p:sp>
        <p:nvSpPr>
          <p:cNvPr id="41" name="연결선"/>
          <p:cNvSpPr/>
          <p:nvPr/>
        </p:nvSpPr>
        <p:spPr>
          <a:xfrm flipV="1">
            <a:off x="4604004" y="2551176"/>
            <a:ext cx="0" cy="118872"/>
          </a:xfrm>
          <a:prstGeom prst="line">
            <a:avLst/>
          </a:prstGeom>
          <a:noFill/>
          <a:ln w="15875">
            <a:solidFill>
              <a:srgbClr val="2563EB"/>
            </a:solidFill>
            <a:prstDash val="dash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3429000" y="27066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continue — 다음 라운드 (최대 6, 한 번에 3) · ask → 사람 · conclude → 판정</a:t>
            </a:r>
            <a:endParaRPr lang="en-US" sz="1000" dirty="0"/>
          </a:p>
        </p:txBody>
      </p:sp>
      <p:sp>
        <p:nvSpPr>
          <p:cNvPr id="43" name="action 등재표"/>
          <p:cNvSpPr/>
          <p:nvPr/>
        </p:nvSpPr>
        <p:spPr>
          <a:xfrm>
            <a:off x="3429000" y="2971800"/>
            <a:ext cx="2423160" cy="1572768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action 등재표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데이터 조회  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redis.* · mongo.* · kafka.* · rest.query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코드 추적  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code.services · config · grep · read · flow · trace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재계산 대조  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recompute.count · sum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레인은 role_for(action)이 정한다 — 리드가 아니다</a:t>
            </a:r>
            <a:endParaRPr lang="en-US" sz="1200" dirty="0"/>
          </a:p>
        </p:txBody>
      </p:sp>
      <p:sp>
        <p:nvSpPr>
          <p:cNvPr id="44" name="리드 LLM"/>
          <p:cNvSpPr/>
          <p:nvPr/>
        </p:nvSpPr>
        <p:spPr>
          <a:xfrm>
            <a:off x="5943600" y="2971800"/>
            <a:ext cx="2286000" cy="1572768"/>
          </a:xfrm>
          <a:prstGeom prst="roundRect">
            <a:avLst>
              <a:gd name="adj" fmla="val 4651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01600" tIns="63500" rIns="76200" bIns="508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리드 LLM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프롬프트  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증상·증거·데이터 흐름·예시(코드가 생성)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State  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계획·가설·증거 id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검사  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없는 증거 인용은 버린다 · 거부 시 1회 되묻기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--trace  </a:t>
            </a:r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라운드별 프롬프트·응답 기록</a:t>
            </a:r>
            <a:endParaRPr lang="en-US" sz="1200" dirty="0"/>
          </a:p>
        </p:txBody>
      </p:sp>
      <p:sp>
        <p:nvSpPr>
          <p:cNvPr id="45" name="일일 리포트 블록"/>
          <p:cNvSpPr/>
          <p:nvPr/>
        </p:nvSpPr>
        <p:spPr>
          <a:xfrm>
            <a:off x="8503920" y="1828800"/>
            <a:ext cx="3227832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41080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일일 리포트</a:t>
            </a:r>
            <a:endParaRPr lang="en-US" sz="1300" dirty="0"/>
          </a:p>
        </p:txBody>
      </p:sp>
      <p:sp>
        <p:nvSpPr>
          <p:cNvPr id="47" name="모듈 src/report"/>
          <p:cNvSpPr txBox="1"/>
          <p:nvPr/>
        </p:nvSpPr>
        <p:spPr>
          <a:xfrm>
            <a:off x="9625838" y="1929384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src/report</a:t>
            </a:r>
            <a:endParaRPr lang="en-US" sz="1000" dirty="0"/>
          </a:p>
        </p:txBody>
      </p:sp>
      <p:sp>
        <p:nvSpPr>
          <p:cNvPr id="48" name="기간 · 수집"/>
          <p:cNvSpPr/>
          <p:nvPr/>
        </p:nvSpPr>
        <p:spPr>
          <a:xfrm>
            <a:off x="8641080" y="2221992"/>
            <a:ext cx="295351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381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기간 · 수집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어제(평일) · 28개 사이트 병렬</a:t>
            </a:r>
            <a:endParaRPr lang="en-US" sz="1200" dirty="0"/>
          </a:p>
        </p:txBody>
      </p:sp>
      <p:sp>
        <p:nvSpPr>
          <p:cNvPr id="49" name="모듈 window·collect"/>
          <p:cNvSpPr txBox="1"/>
          <p:nvPr/>
        </p:nvSpPr>
        <p:spPr>
          <a:xfrm>
            <a:off x="10360152" y="226771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window·collect</a:t>
            </a:r>
            <a:endParaRPr lang="en-US" sz="900" dirty="0"/>
          </a:p>
        </p:txBody>
      </p:sp>
      <p:sp>
        <p:nvSpPr>
          <p:cNvPr id="50" name="집계 · 블록"/>
          <p:cNvSpPr/>
          <p:nvPr/>
        </p:nvSpPr>
        <p:spPr>
          <a:xfrm>
            <a:off x="8641080" y="2697480"/>
            <a:ext cx="295351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381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집계 · 블록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숫자는 코드가 센다</a:t>
            </a:r>
            <a:endParaRPr lang="en-US" sz="1200" dirty="0"/>
          </a:p>
        </p:txBody>
      </p:sp>
      <p:sp>
        <p:nvSpPr>
          <p:cNvPr id="51" name="모듈 facts·blocks"/>
          <p:cNvSpPr txBox="1"/>
          <p:nvPr/>
        </p:nvSpPr>
        <p:spPr>
          <a:xfrm>
            <a:off x="10360152" y="2743200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facts·blocks</a:t>
            </a:r>
            <a:endParaRPr lang="en-US" sz="900" dirty="0"/>
          </a:p>
        </p:txBody>
      </p:sp>
      <p:sp>
        <p:nvSpPr>
          <p:cNvPr id="52" name="HTML · 차트"/>
          <p:cNvSpPr/>
          <p:nvPr/>
        </p:nvSpPr>
        <p:spPr>
          <a:xfrm>
            <a:off x="8641080" y="3172968"/>
            <a:ext cx="295351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381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HTML · 차트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Outlook용 표 · 직접 만든 PNG</a:t>
            </a:r>
            <a:endParaRPr lang="en-US" sz="1200" dirty="0"/>
          </a:p>
        </p:txBody>
      </p:sp>
      <p:sp>
        <p:nvSpPr>
          <p:cNvPr id="53" name="모듈 report_html"/>
          <p:cNvSpPr txBox="1"/>
          <p:nvPr/>
        </p:nvSpPr>
        <p:spPr>
          <a:xfrm>
            <a:off x="10360152" y="321868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report_html</a:t>
            </a:r>
            <a:endParaRPr lang="en-US" sz="900" dirty="0"/>
          </a:p>
        </p:txBody>
      </p:sp>
      <p:sp>
        <p:nvSpPr>
          <p:cNvPr id="54" name="LLM 서술"/>
          <p:cNvSpPr/>
          <p:nvPr/>
        </p:nvSpPr>
        <p:spPr>
          <a:xfrm>
            <a:off x="8641080" y="3648456"/>
            <a:ext cx="2953512" cy="384048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  <p:txBody>
          <a:bodyPr wrap="square" lIns="101600" tIns="381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LLM 서술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준 숫자만 인용(화이트리스트)</a:t>
            </a:r>
            <a:endParaRPr lang="en-US" sz="1200" dirty="0"/>
          </a:p>
        </p:txBody>
      </p:sp>
      <p:sp>
        <p:nvSpPr>
          <p:cNvPr id="55" name="모듈 comment.py"/>
          <p:cNvSpPr txBox="1"/>
          <p:nvPr/>
        </p:nvSpPr>
        <p:spPr>
          <a:xfrm>
            <a:off x="10360152" y="369417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comment.py</a:t>
            </a:r>
            <a:endParaRPr lang="en-US" sz="900" dirty="0"/>
          </a:p>
        </p:txBody>
      </p:sp>
      <p:sp>
        <p:nvSpPr>
          <p:cNvPr id="56" name="발행"/>
          <p:cNvSpPr/>
          <p:nvPr/>
        </p:nvSpPr>
        <p:spPr>
          <a:xfrm>
            <a:off x="8641080" y="4123944"/>
            <a:ext cx="295351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  <p:txBody>
          <a:bodyPr wrap="square" lIns="101600" tIns="381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발행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파일 먼저 → 메일</a:t>
            </a:r>
            <a:endParaRPr lang="en-US" sz="1200" dirty="0"/>
          </a:p>
        </p:txBody>
      </p:sp>
      <p:sp>
        <p:nvSpPr>
          <p:cNvPr id="57" name="모듈 publish.py"/>
          <p:cNvSpPr txBox="1"/>
          <p:nvPr/>
        </p:nvSpPr>
        <p:spPr>
          <a:xfrm>
            <a:off x="10360152" y="4169664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publish.py</a:t>
            </a:r>
            <a:endParaRPr lang="en-US" sz="900" dirty="0"/>
          </a:p>
        </p:txBody>
      </p:sp>
      <p:sp>
        <p:nvSpPr>
          <p:cNvPr id="58" name="지식 블록"/>
          <p:cNvSpPr/>
          <p:nvPr/>
        </p:nvSpPr>
        <p:spPr>
          <a:xfrm>
            <a:off x="457200" y="4800600"/>
            <a:ext cx="79095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94360" y="4873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지식</a:t>
            </a:r>
            <a:endParaRPr lang="en-US" sz="1300" dirty="0"/>
          </a:p>
        </p:txBody>
      </p:sp>
      <p:sp>
        <p:nvSpPr>
          <p:cNvPr id="60" name="모듈 src/knowledge · knowledge/"/>
          <p:cNvSpPr txBox="1"/>
          <p:nvPr/>
        </p:nvSpPr>
        <p:spPr>
          <a:xfrm>
            <a:off x="1034288" y="4901184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src/knowledge · knowledge/</a:t>
            </a:r>
            <a:endParaRPr lang="en-US" sz="1000" dirty="0"/>
          </a:p>
        </p:txBody>
      </p:sp>
      <p:sp>
        <p:nvSpPr>
          <p:cNvPr id="61" name="topology · deployment"/>
          <p:cNvSpPr/>
          <p:nvPr/>
        </p:nvSpPr>
        <p:spPr>
          <a:xfrm>
            <a:off x="594360" y="5138928"/>
            <a:ext cx="2496312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7620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topology · deployment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서비스 역할 · 배포 커밋 (사람이 유지)</a:t>
            </a:r>
            <a:endParaRPr lang="en-US" sz="900" dirty="0"/>
          </a:p>
        </p:txBody>
      </p:sp>
      <p:sp>
        <p:nvSpPr>
          <p:cNvPr id="62" name="checkout"/>
          <p:cNvSpPr/>
          <p:nvPr/>
        </p:nvSpPr>
        <p:spPr>
          <a:xfrm>
            <a:off x="3182112" y="5138928"/>
            <a:ext cx="2496312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7620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배포된 커밋으로 코드를 읽는다</a:t>
            </a:r>
            <a:endParaRPr lang="en-US" sz="900" dirty="0"/>
          </a:p>
        </p:txBody>
      </p:sp>
      <p:sp>
        <p:nvSpPr>
          <p:cNvPr id="63" name="flow.py"/>
          <p:cNvSpPr/>
          <p:nvPr/>
        </p:nvSpPr>
        <p:spPr>
          <a:xfrm>
            <a:off x="5769864" y="5138928"/>
            <a:ext cx="2496312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7620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flow.py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서비스↔토픽·컬렉션 흐름 그래프</a:t>
            </a:r>
            <a:endParaRPr lang="en-US" sz="900" dirty="0"/>
          </a:p>
        </p:txBody>
      </p:sp>
      <p:sp>
        <p:nvSpPr>
          <p:cNvPr id="64" name="index.py"/>
          <p:cNvSpPr/>
          <p:nvPr/>
        </p:nvSpPr>
        <p:spPr>
          <a:xfrm>
            <a:off x="594360" y="5522976"/>
            <a:ext cx="2496312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7620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index.py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전역 심볼 인덱스 (2-pass)</a:t>
            </a:r>
            <a:endParaRPr lang="en-US" sz="900" dirty="0"/>
          </a:p>
        </p:txBody>
      </p:sp>
      <p:sp>
        <p:nvSpPr>
          <p:cNvPr id="65" name="trace.py · parity"/>
          <p:cNvSpPr/>
          <p:nvPr/>
        </p:nvSpPr>
        <p:spPr>
          <a:xfrm>
            <a:off x="3182112" y="5522976"/>
            <a:ext cx="2496312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7620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trace.py · parity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끝점→저장소 추적 · 인덱스와 대조</a:t>
            </a:r>
            <a:endParaRPr lang="en-US" sz="900" dirty="0"/>
          </a:p>
        </p:txBody>
      </p:sp>
      <p:sp>
        <p:nvSpPr>
          <p:cNvPr id="66" name="flow.html · calls.html"/>
          <p:cNvSpPr/>
          <p:nvPr/>
        </p:nvSpPr>
        <p:spPr>
          <a:xfrm>
            <a:off x="5769864" y="5522976"/>
            <a:ext cx="2496312" cy="329184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7620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flow.html · calls.html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사람이 여는 한 장짜리 지도</a:t>
            </a:r>
            <a:endParaRPr lang="en-US" sz="900" dirty="0"/>
          </a:p>
        </p:txBody>
      </p:sp>
      <p:sp>
        <p:nvSpPr>
          <p:cNvPr id="67" name="연결선"/>
          <p:cNvSpPr/>
          <p:nvPr/>
        </p:nvSpPr>
        <p:spPr>
          <a:xfrm flipV="1">
            <a:off x="4572000" y="4572000"/>
            <a:ext cx="0" cy="2286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8" name="외부 연결"/>
          <p:cNvSpPr/>
          <p:nvPr/>
        </p:nvSpPr>
        <p:spPr>
          <a:xfrm>
            <a:off x="8503920" y="4800600"/>
            <a:ext cx="32278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915400" y="4910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사내 LLM 게이트웨이  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llm_factory · llm_http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8915400" y="5257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메일 Agent API  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수신자는 config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8915400" y="5605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output/  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보고서 · 그래프 · trace</a:t>
            </a:r>
            <a:endParaRPr lang="en-US" sz="1200" dirty="0"/>
          </a:p>
        </p:txBody>
      </p:sp>
      <p:pic>
        <p:nvPicPr>
          <p:cNvPr id="72" name="아이콘 LuCp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4910328"/>
            <a:ext cx="182880" cy="182880"/>
          </a:xfrm>
          <a:prstGeom prst="rect">
            <a:avLst/>
          </a:prstGeom>
        </p:spPr>
      </p:pic>
      <p:pic>
        <p:nvPicPr>
          <p:cNvPr id="73" name="아이콘 LuMai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5257800"/>
            <a:ext cx="182880" cy="182880"/>
          </a:xfrm>
          <a:prstGeom prst="rect">
            <a:avLst/>
          </a:prstGeom>
        </p:spPr>
      </p:pic>
      <p:pic>
        <p:nvPicPr>
          <p:cNvPr id="74" name="아이콘 LuFileTex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5605272"/>
            <a:ext cx="182880" cy="182880"/>
          </a:xfrm>
          <a:prstGeom prst="rect">
            <a:avLst/>
          </a:prstGeom>
        </p:spPr>
      </p:pic>
      <p:sp>
        <p:nvSpPr>
          <p:cNvPr id="75" name="어댑터 띠"/>
          <p:cNvSpPr/>
          <p:nvPr/>
        </p:nvSpPr>
        <p:spPr>
          <a:xfrm>
            <a:off x="457200" y="6016752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875">
            <a:solidFill>
              <a:srgbClr val="475569"/>
            </a:solidFill>
            <a:prstDash val="solid"/>
          </a:ln>
        </p:spPr>
      </p:sp>
      <p:pic>
        <p:nvPicPr>
          <p:cNvPr id="76" name="아이콘 Lu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144768"/>
            <a:ext cx="201168" cy="201168"/>
          </a:xfrm>
          <a:prstGeom prst="rect">
            <a:avLst/>
          </a:prstGeom>
        </p:spPr>
      </p:pic>
      <p:sp>
        <p:nvSpPr>
          <p:cNvPr id="77" name="Text 71"/>
          <p:cNvSpPr txBox="1"/>
          <p:nvPr/>
        </p:nvSpPr>
        <p:spPr>
          <a:xfrm>
            <a:off x="822960" y="61264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어댑터 — 읽기 전용</a:t>
            </a:r>
            <a:endParaRPr lang="en-US" sz="1100" dirty="0"/>
          </a:p>
        </p:txBody>
      </p:sp>
      <p:sp>
        <p:nvSpPr>
          <p:cNvPr id="78" name="RedisReader"/>
          <p:cNvSpPr/>
          <p:nvPr/>
        </p:nvSpPr>
        <p:spPr>
          <a:xfrm>
            <a:off x="2514600" y="6062472"/>
            <a:ext cx="175564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63500" tIns="0" rIns="381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RedisReader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get·scan·ttl</a:t>
            </a:r>
            <a:endParaRPr lang="en-US" sz="900" dirty="0"/>
          </a:p>
        </p:txBody>
      </p:sp>
      <p:sp>
        <p:nvSpPr>
          <p:cNvPr id="79" name="MongoReader"/>
          <p:cNvSpPr/>
          <p:nvPr/>
        </p:nvSpPr>
        <p:spPr>
          <a:xfrm>
            <a:off x="4343400" y="6062472"/>
            <a:ext cx="175564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63500" tIns="0" rIns="381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MongoReader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상한+1로 잘림 감지</a:t>
            </a:r>
            <a:endParaRPr lang="en-US" sz="900" dirty="0"/>
          </a:p>
        </p:txBody>
      </p:sp>
      <p:sp>
        <p:nvSpPr>
          <p:cNvPr id="80" name="KafkaInspector"/>
          <p:cNvSpPr/>
          <p:nvPr/>
        </p:nvSpPr>
        <p:spPr>
          <a:xfrm>
            <a:off x="6172200" y="6062472"/>
            <a:ext cx="175564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63500" tIns="0" rIns="381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KafkaInspector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그룹 미참여</a:t>
            </a:r>
            <a:endParaRPr lang="en-US" sz="900" dirty="0"/>
          </a:p>
        </p:txBody>
      </p:sp>
      <p:sp>
        <p:nvSpPr>
          <p:cNvPr id="81" name="RestProber"/>
          <p:cNvSpPr/>
          <p:nvPr/>
        </p:nvSpPr>
        <p:spPr>
          <a:xfrm>
            <a:off x="8001000" y="6062472"/>
            <a:ext cx="175564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63500" tIns="0" rIns="381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RestProber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등재 항목만</a:t>
            </a:r>
            <a:endParaRPr lang="en-US" sz="900" dirty="0"/>
          </a:p>
        </p:txBody>
      </p:sp>
      <p:sp>
        <p:nvSpPr>
          <p:cNvPr id="82" name="GitReader"/>
          <p:cNvSpPr/>
          <p:nvPr/>
        </p:nvSpPr>
        <p:spPr>
          <a:xfrm>
            <a:off x="9829800" y="6062472"/>
            <a:ext cx="175564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475569"/>
            </a:solidFill>
          </a:ln>
        </p:spPr>
        <p:txBody>
          <a:bodyPr wrap="square" lIns="63500" tIns="0" rIns="381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GitReader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배포 커밋 읽기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51967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s Agent Briefing">
  <a:themeElements>
    <a:clrScheme name="Ops Agent Briefing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2563EB"/>
      </a:accent1>
      <a:accent2>
        <a:srgbClr val="475569"/>
      </a:accent2>
      <a:accent3>
        <a:srgbClr val="0F766E"/>
      </a:accent3>
      <a:accent4>
        <a:srgbClr val="DC2626"/>
      </a:accent4>
      <a:accent5>
        <a:srgbClr val="64748B"/>
      </a:accent5>
      <a:accent6>
        <a:srgbClr val="94A3B8"/>
      </a:accent6>
      <a:hlink>
        <a:srgbClr val="2563EB"/>
      </a:hlink>
      <a:folHlink>
        <a:srgbClr val="1E40AF"/>
      </a:folHlink>
    </a:clrScheme>
    <a:fontScheme name="Ops Agent Briefing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 모니터링 에이전트 — 임원 보고</dc:title>
  <dc:subject>PptxGenJS Presentation</dc:subject>
  <dc:creator>PptxGenJS</dc:creator>
  <cp:lastModifiedBy>PptxGenJS</cp:lastModifiedBy>
  <cp:revision>1</cp:revision>
  <dcterms:created xsi:type="dcterms:W3CDTF">2026-10-03T05:36:10Z</dcterms:created>
  <dcterms:modified xsi:type="dcterms:W3CDTF">2026-10-03T05:36:10Z</dcterms:modified>
</cp:coreProperties>
</file>